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4"/>
    <p:sldMasterId id="2147483660" r:id="rId5"/>
  </p:sldMasterIdLst>
  <p:notesMasterIdLst>
    <p:notesMasterId r:id="rId34"/>
  </p:notesMasterIdLst>
  <p:handoutMasterIdLst>
    <p:handoutMasterId r:id="rId35"/>
  </p:handoutMasterIdLst>
  <p:sldIdLst>
    <p:sldId id="327" r:id="rId6"/>
    <p:sldId id="384" r:id="rId7"/>
    <p:sldId id="329" r:id="rId8"/>
    <p:sldId id="304" r:id="rId9"/>
    <p:sldId id="305" r:id="rId10"/>
    <p:sldId id="330" r:id="rId11"/>
    <p:sldId id="332" r:id="rId12"/>
    <p:sldId id="333" r:id="rId13"/>
    <p:sldId id="381" r:id="rId14"/>
    <p:sldId id="382" r:id="rId15"/>
    <p:sldId id="338" r:id="rId16"/>
    <p:sldId id="372" r:id="rId17"/>
    <p:sldId id="343" r:id="rId18"/>
    <p:sldId id="344" r:id="rId19"/>
    <p:sldId id="345" r:id="rId20"/>
    <p:sldId id="346" r:id="rId21"/>
    <p:sldId id="350" r:id="rId22"/>
    <p:sldId id="385" r:id="rId23"/>
    <p:sldId id="351" r:id="rId24"/>
    <p:sldId id="352" r:id="rId25"/>
    <p:sldId id="353" r:id="rId26"/>
    <p:sldId id="354" r:id="rId27"/>
    <p:sldId id="355" r:id="rId28"/>
    <p:sldId id="359" r:id="rId29"/>
    <p:sldId id="383" r:id="rId30"/>
    <p:sldId id="521" r:id="rId31"/>
    <p:sldId id="386" r:id="rId32"/>
    <p:sldId id="387" r:id="rId33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12" userDrawn="1">
          <p15:clr>
            <a:srgbClr val="A4A3A4"/>
          </p15:clr>
        </p15:guide>
        <p15:guide id="2" orient="horz" pos="3024" userDrawn="1">
          <p15:clr>
            <a:srgbClr val="A4A3A4"/>
          </p15:clr>
        </p15:guide>
        <p15:guide id="3" orient="horz" pos="384" userDrawn="1">
          <p15:clr>
            <a:srgbClr val="A4A3A4"/>
          </p15:clr>
        </p15:guide>
        <p15:guide id="4" orient="horz" pos="2520" userDrawn="1">
          <p15:clr>
            <a:srgbClr val="A4A3A4"/>
          </p15:clr>
        </p15:guide>
        <p15:guide id="5" orient="horz" pos="1080" userDrawn="1">
          <p15:clr>
            <a:srgbClr val="A4A3A4"/>
          </p15:clr>
        </p15:guide>
        <p15:guide id="6" orient="horz" pos="1752" userDrawn="1">
          <p15:clr>
            <a:srgbClr val="A4A3A4"/>
          </p15:clr>
        </p15:guide>
        <p15:guide id="7" orient="horz" pos="3432" userDrawn="1">
          <p15:clr>
            <a:srgbClr val="A4A3A4"/>
          </p15:clr>
        </p15:guide>
        <p15:guide id="8" orient="horz" pos="3120" userDrawn="1">
          <p15:clr>
            <a:srgbClr val="A4A3A4"/>
          </p15:clr>
        </p15:guide>
        <p15:guide id="9" pos="52" userDrawn="1">
          <p15:clr>
            <a:srgbClr val="A4A3A4"/>
          </p15:clr>
        </p15:guide>
        <p15:guide id="10" pos="384" userDrawn="1">
          <p15:clr>
            <a:srgbClr val="A4A3A4"/>
          </p15:clr>
        </p15:guide>
        <p15:guide id="11" pos="6480" userDrawn="1">
          <p15:clr>
            <a:srgbClr val="A4A3A4"/>
          </p15:clr>
        </p15:guide>
        <p15:guide id="12" pos="2597" userDrawn="1">
          <p15:clr>
            <a:srgbClr val="A4A3A4"/>
          </p15:clr>
        </p15:guide>
        <p15:guide id="13" pos="288" userDrawn="1">
          <p15:clr>
            <a:srgbClr val="A4A3A4"/>
          </p15:clr>
        </p15:guide>
        <p15:guide id="14" orient="horz" pos="2160" userDrawn="1">
          <p15:clr>
            <a:srgbClr val="A4A3A4"/>
          </p15:clr>
        </p15:guide>
        <p15:guide id="15" orient="horz" pos="216" userDrawn="1">
          <p15:clr>
            <a:srgbClr val="A4A3A4"/>
          </p15:clr>
        </p15:guide>
        <p15:guide id="16" orient="horz" pos="936" userDrawn="1">
          <p15:clr>
            <a:srgbClr val="A4A3A4"/>
          </p15:clr>
        </p15:guide>
        <p15:guide id="17" pos="4824" userDrawn="1">
          <p15:clr>
            <a:srgbClr val="A4A3A4"/>
          </p15:clr>
        </p15:guide>
        <p15:guide id="18" pos="7296" userDrawn="1">
          <p15:clr>
            <a:srgbClr val="A4A3A4"/>
          </p15:clr>
        </p15:guide>
        <p15:guide id="19" pos="3288" userDrawn="1">
          <p15:clr>
            <a:srgbClr val="A4A3A4"/>
          </p15:clr>
        </p15:guide>
        <p15:guide id="20" pos="5904" userDrawn="1">
          <p15:clr>
            <a:srgbClr val="A4A3A4"/>
          </p15:clr>
        </p15:guide>
        <p15:guide id="21" pos="55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66021C-E680-05DE-E3D2-006596088D92}" name="Oxley, Angela" initials="OA" userId="S::angela.oxley@mheducation.com::2701a8e4-ff8b-43b5-b1ab-b049b2cef046" providerId="AD"/>
  <p188:author id="{89121024-C2F1-772D-4EE0-0DA310714C15}" name="Nithiyanadhan Rajagopal" initials="NR" userId="S::Nithiyanandhan.R@spi-global.com::7ab3c0d7-e1d9-4568-9b85-35969e8fd21e" providerId="AD"/>
  <p188:author id="{D1433D37-D2E3-4444-6BDD-3E1ACC9A2A8D}" name="Joel B" initials="JB" userId="S::joel.benjamin@spi-global.com::95ddb632-f0c2-46ff-aefc-0c5d5f4a0b2a" providerId="AD"/>
  <p188:author id="{B3ADDF46-B7A6-A01A-9792-C5B084DF3E52}" name="Schilling, Kate" initials="SK" userId="S::Kate.Schilling@mheducation.com::208af9e5-fb00-4cc1-af35-d15ed655bb6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quel User" initials="SU" lastIdx="0" clrIdx="0">
    <p:extLst>
      <p:ext uri="{19B8F6BF-5375-455C-9EA6-DF929625EA0E}">
        <p15:presenceInfo xmlns:p15="http://schemas.microsoft.com/office/powerpoint/2012/main" userId="958da6fd0e6693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9E4E"/>
    <a:srgbClr val="DC8013"/>
    <a:srgbClr val="00A6B9"/>
    <a:srgbClr val="692146"/>
    <a:srgbClr val="9F2241"/>
    <a:srgbClr val="720F11"/>
    <a:srgbClr val="00C7C3"/>
    <a:srgbClr val="02F0DE"/>
    <a:srgbClr val="33F0E1"/>
    <a:srgbClr val="331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E8E80-E8AB-45FF-A51A-91F876B31084}" v="26" dt="2023-08-25T12:41:49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93" autoAdjust="0"/>
    <p:restoredTop sz="88682" autoAdjust="0"/>
  </p:normalViewPr>
  <p:slideViewPr>
    <p:cSldViewPr snapToGrid="0">
      <p:cViewPr varScale="1">
        <p:scale>
          <a:sx n="103" d="100"/>
          <a:sy n="103" d="100"/>
        </p:scale>
        <p:origin x="176" y="256"/>
      </p:cViewPr>
      <p:guideLst>
        <p:guide pos="1512"/>
        <p:guide orient="horz" pos="3024"/>
        <p:guide orient="horz" pos="384"/>
        <p:guide orient="horz" pos="2520"/>
        <p:guide orient="horz" pos="1080"/>
        <p:guide orient="horz" pos="1752"/>
        <p:guide orient="horz" pos="3432"/>
        <p:guide orient="horz" pos="3120"/>
        <p:guide pos="52"/>
        <p:guide pos="384"/>
        <p:guide pos="6480"/>
        <p:guide pos="2597"/>
        <p:guide pos="288"/>
        <p:guide orient="horz" pos="2160"/>
        <p:guide orient="horz" pos="216"/>
        <p:guide orient="horz" pos="936"/>
        <p:guide pos="4824"/>
        <p:guide pos="7296"/>
        <p:guide pos="3288"/>
        <p:guide pos="5904"/>
        <p:guide pos="55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handoutMaster" Target="handoutMasters/handoutMaster1.xml"/><Relationship Id="rId43" Type="http://schemas.microsoft.com/office/2018/10/relationships/authors" Target="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asley, Rain" userId="d2d9309b-ceb4-4edd-829e-541379665217" providerId="ADAL" clId="{1D9E8E80-E8AB-45FF-A51A-91F876B31084}"/>
    <pc:docChg chg="undo custSel modSld">
      <pc:chgData name="Heasley, Rain" userId="d2d9309b-ceb4-4edd-829e-541379665217" providerId="ADAL" clId="{1D9E8E80-E8AB-45FF-A51A-91F876B31084}" dt="2023-08-25T12:41:56.660" v="52" actId="1076"/>
      <pc:docMkLst>
        <pc:docMk/>
      </pc:docMkLst>
      <pc:sldChg chg="modSp">
        <pc:chgData name="Heasley, Rain" userId="d2d9309b-ceb4-4edd-829e-541379665217" providerId="ADAL" clId="{1D9E8E80-E8AB-45FF-A51A-91F876B31084}" dt="2023-08-25T12:25:00.974" v="5" actId="6549"/>
        <pc:sldMkLst>
          <pc:docMk/>
          <pc:sldMk cId="2024635184" sldId="329"/>
        </pc:sldMkLst>
        <pc:spChg chg="mod">
          <ac:chgData name="Heasley, Rain" userId="d2d9309b-ceb4-4edd-829e-541379665217" providerId="ADAL" clId="{1D9E8E80-E8AB-45FF-A51A-91F876B31084}" dt="2023-08-25T12:25:00.974" v="5" actId="6549"/>
          <ac:spMkLst>
            <pc:docMk/>
            <pc:sldMk cId="2024635184" sldId="329"/>
            <ac:spMk id="10" creationId="{D7D5C8EC-F1EF-6146-850F-128719B25F22}"/>
          </ac:spMkLst>
        </pc:spChg>
      </pc:sldChg>
      <pc:sldChg chg="modSp">
        <pc:chgData name="Heasley, Rain" userId="d2d9309b-ceb4-4edd-829e-541379665217" providerId="ADAL" clId="{1D9E8E80-E8AB-45FF-A51A-91F876B31084}" dt="2023-08-25T12:31:42.797" v="14" actId="207"/>
        <pc:sldMkLst>
          <pc:docMk/>
          <pc:sldMk cId="3456776647" sldId="336"/>
        </pc:sldMkLst>
        <pc:spChg chg="mod">
          <ac:chgData name="Heasley, Rain" userId="d2d9309b-ceb4-4edd-829e-541379665217" providerId="ADAL" clId="{1D9E8E80-E8AB-45FF-A51A-91F876B31084}" dt="2023-08-25T12:31:42.797" v="14" actId="207"/>
          <ac:spMkLst>
            <pc:docMk/>
            <pc:sldMk cId="3456776647" sldId="336"/>
            <ac:spMk id="8" creationId="{83F3EB91-17DF-D044-83E2-63ED6DCD3089}"/>
          </ac:spMkLst>
        </pc:spChg>
      </pc:sldChg>
      <pc:sldChg chg="modSp">
        <pc:chgData name="Heasley, Rain" userId="d2d9309b-ceb4-4edd-829e-541379665217" providerId="ADAL" clId="{1D9E8E80-E8AB-45FF-A51A-91F876B31084}" dt="2023-08-25T12:35:38.104" v="21" actId="207"/>
        <pc:sldMkLst>
          <pc:docMk/>
          <pc:sldMk cId="2291261991" sldId="338"/>
        </pc:sldMkLst>
        <pc:graphicFrameChg chg="mod">
          <ac:chgData name="Heasley, Rain" userId="d2d9309b-ceb4-4edd-829e-541379665217" providerId="ADAL" clId="{1D9E8E80-E8AB-45FF-A51A-91F876B31084}" dt="2023-08-25T12:35:38.104" v="21" actId="207"/>
          <ac:graphicFrameMkLst>
            <pc:docMk/>
            <pc:sldMk cId="2291261991" sldId="338"/>
            <ac:graphicFrameMk id="2" creationId="{063D5D09-4FAF-46B2-82DF-A0A4D2AAD9B2}"/>
          </ac:graphicFrameMkLst>
        </pc:graphicFrameChg>
      </pc:sldChg>
      <pc:sldChg chg="modSp">
        <pc:chgData name="Heasley, Rain" userId="d2d9309b-ceb4-4edd-829e-541379665217" providerId="ADAL" clId="{1D9E8E80-E8AB-45FF-A51A-91F876B31084}" dt="2023-08-25T12:37:51.850" v="22" actId="207"/>
        <pc:sldMkLst>
          <pc:docMk/>
          <pc:sldMk cId="3989973662" sldId="346"/>
        </pc:sldMkLst>
        <pc:graphicFrameChg chg="mod">
          <ac:chgData name="Heasley, Rain" userId="d2d9309b-ceb4-4edd-829e-541379665217" providerId="ADAL" clId="{1D9E8E80-E8AB-45FF-A51A-91F876B31084}" dt="2023-08-25T12:37:51.850" v="22" actId="207"/>
          <ac:graphicFrameMkLst>
            <pc:docMk/>
            <pc:sldMk cId="3989973662" sldId="346"/>
            <ac:graphicFrameMk id="2" creationId="{00000000-0000-0000-0000-000000000000}"/>
          </ac:graphicFrameMkLst>
        </pc:graphicFrameChg>
      </pc:sldChg>
      <pc:sldChg chg="addSp modSp mod">
        <pc:chgData name="Heasley, Rain" userId="d2d9309b-ceb4-4edd-829e-541379665217" providerId="ADAL" clId="{1D9E8E80-E8AB-45FF-A51A-91F876B31084}" dt="2023-08-25T12:38:57.250" v="43" actId="1076"/>
        <pc:sldMkLst>
          <pc:docMk/>
          <pc:sldMk cId="3894081896" sldId="350"/>
        </pc:sldMkLst>
        <pc:cxnChg chg="add mod">
          <ac:chgData name="Heasley, Rain" userId="d2d9309b-ceb4-4edd-829e-541379665217" providerId="ADAL" clId="{1D9E8E80-E8AB-45FF-A51A-91F876B31084}" dt="2023-08-25T12:38:22.938" v="25" actId="208"/>
          <ac:cxnSpMkLst>
            <pc:docMk/>
            <pc:sldMk cId="3894081896" sldId="350"/>
            <ac:cxnSpMk id="3" creationId="{DC87219D-A8E8-2145-0513-30312FCAD45F}"/>
          </ac:cxnSpMkLst>
        </pc:cxnChg>
        <pc:cxnChg chg="add mod">
          <ac:chgData name="Heasley, Rain" userId="d2d9309b-ceb4-4edd-829e-541379665217" providerId="ADAL" clId="{1D9E8E80-E8AB-45FF-A51A-91F876B31084}" dt="2023-08-25T12:38:32.095" v="29" actId="1076"/>
          <ac:cxnSpMkLst>
            <pc:docMk/>
            <pc:sldMk cId="3894081896" sldId="350"/>
            <ac:cxnSpMk id="4" creationId="{665560BC-83EF-BAAA-8CCB-5BBAA3EF7254}"/>
          </ac:cxnSpMkLst>
        </pc:cxnChg>
        <pc:cxnChg chg="add mod">
          <ac:chgData name="Heasley, Rain" userId="d2d9309b-ceb4-4edd-829e-541379665217" providerId="ADAL" clId="{1D9E8E80-E8AB-45FF-A51A-91F876B31084}" dt="2023-08-25T12:38:41.358" v="33" actId="1076"/>
          <ac:cxnSpMkLst>
            <pc:docMk/>
            <pc:sldMk cId="3894081896" sldId="350"/>
            <ac:cxnSpMk id="7" creationId="{C5DB7B60-4FC3-CB8B-0649-8353224D44AA}"/>
          </ac:cxnSpMkLst>
        </pc:cxnChg>
        <pc:cxnChg chg="add mod">
          <ac:chgData name="Heasley, Rain" userId="d2d9309b-ceb4-4edd-829e-541379665217" providerId="ADAL" clId="{1D9E8E80-E8AB-45FF-A51A-91F876B31084}" dt="2023-08-25T12:38:48.822" v="41" actId="1037"/>
          <ac:cxnSpMkLst>
            <pc:docMk/>
            <pc:sldMk cId="3894081896" sldId="350"/>
            <ac:cxnSpMk id="9" creationId="{34805AC2-EDAF-B886-0625-C45A66EF221F}"/>
          </ac:cxnSpMkLst>
        </pc:cxnChg>
        <pc:cxnChg chg="add mod">
          <ac:chgData name="Heasley, Rain" userId="d2d9309b-ceb4-4edd-829e-541379665217" providerId="ADAL" clId="{1D9E8E80-E8AB-45FF-A51A-91F876B31084}" dt="2023-08-25T12:38:57.250" v="43" actId="1076"/>
          <ac:cxnSpMkLst>
            <pc:docMk/>
            <pc:sldMk cId="3894081896" sldId="350"/>
            <ac:cxnSpMk id="10" creationId="{D5AEE840-AABA-F97F-0E56-DB9D8DCBDB15}"/>
          </ac:cxnSpMkLst>
        </pc:cxnChg>
        <pc:cxnChg chg="add mod">
          <ac:chgData name="Heasley, Rain" userId="d2d9309b-ceb4-4edd-829e-541379665217" providerId="ADAL" clId="{1D9E8E80-E8AB-45FF-A51A-91F876B31084}" dt="2023-08-25T12:38:57.250" v="43" actId="1076"/>
          <ac:cxnSpMkLst>
            <pc:docMk/>
            <pc:sldMk cId="3894081896" sldId="350"/>
            <ac:cxnSpMk id="11" creationId="{C4766BEE-1CD6-AFA4-AD72-DDCCC5206F63}"/>
          </ac:cxnSpMkLst>
        </pc:cxnChg>
      </pc:sldChg>
      <pc:sldChg chg="addSp delSp modSp mod">
        <pc:chgData name="Heasley, Rain" userId="d2d9309b-ceb4-4edd-829e-541379665217" providerId="ADAL" clId="{1D9E8E80-E8AB-45FF-A51A-91F876B31084}" dt="2023-08-25T12:41:56.660" v="52" actId="1076"/>
        <pc:sldMkLst>
          <pc:docMk/>
          <pc:sldMk cId="3914971786" sldId="359"/>
        </pc:sldMkLst>
        <pc:cxnChg chg="add del mod">
          <ac:chgData name="Heasley, Rain" userId="d2d9309b-ceb4-4edd-829e-541379665217" providerId="ADAL" clId="{1D9E8E80-E8AB-45FF-A51A-91F876B31084}" dt="2023-08-25T12:41:52.862" v="51" actId="478"/>
          <ac:cxnSpMkLst>
            <pc:docMk/>
            <pc:sldMk cId="3914971786" sldId="359"/>
            <ac:cxnSpMk id="2" creationId="{7017E9DA-5750-846B-7ACE-3CDC8263523E}"/>
          </ac:cxnSpMkLst>
        </pc:cxnChg>
        <pc:cxnChg chg="add mod">
          <ac:chgData name="Heasley, Rain" userId="d2d9309b-ceb4-4edd-829e-541379665217" providerId="ADAL" clId="{1D9E8E80-E8AB-45FF-A51A-91F876B31084}" dt="2023-08-25T12:41:56.660" v="52" actId="1076"/>
          <ac:cxnSpMkLst>
            <pc:docMk/>
            <pc:sldMk cId="3914971786" sldId="359"/>
            <ac:cxnSpMk id="4" creationId="{5B912491-5B77-69BB-5A8D-BBCFA4884226}"/>
          </ac:cxnSpMkLst>
        </pc:cxnChg>
      </pc:sldChg>
      <pc:sldChg chg="modSp mod">
        <pc:chgData name="Heasley, Rain" userId="d2d9309b-ceb4-4edd-829e-541379665217" providerId="ADAL" clId="{1D9E8E80-E8AB-45FF-A51A-91F876B31084}" dt="2023-08-25T12:27:44.063" v="12" actId="948"/>
        <pc:sldMkLst>
          <pc:docMk/>
          <pc:sldMk cId="1568749353" sldId="378"/>
        </pc:sldMkLst>
        <pc:spChg chg="mod">
          <ac:chgData name="Heasley, Rain" userId="d2d9309b-ceb4-4edd-829e-541379665217" providerId="ADAL" clId="{1D9E8E80-E8AB-45FF-A51A-91F876B31084}" dt="2023-08-25T12:27:44.063" v="12" actId="948"/>
          <ac:spMkLst>
            <pc:docMk/>
            <pc:sldMk cId="1568749353" sldId="378"/>
            <ac:spMk id="2" creationId="{3B444D6E-B0F7-6C42-A572-7680D7C7EF9B}"/>
          </ac:spMkLst>
        </pc:spChg>
      </pc:sldChg>
      <pc:sldChg chg="addSp delSp modSp mod">
        <pc:chgData name="Heasley, Rain" userId="d2d9309b-ceb4-4edd-829e-541379665217" providerId="ADAL" clId="{1D9E8E80-E8AB-45FF-A51A-91F876B31084}" dt="2023-08-25T12:34:51.535" v="20" actId="1582"/>
        <pc:sldMkLst>
          <pc:docMk/>
          <pc:sldMk cId="2777030781" sldId="382"/>
        </pc:sldMkLst>
        <pc:spChg chg="add mod">
          <ac:chgData name="Heasley, Rain" userId="d2d9309b-ceb4-4edd-829e-541379665217" providerId="ADAL" clId="{1D9E8E80-E8AB-45FF-A51A-91F876B31084}" dt="2023-08-25T12:34:51.535" v="20" actId="1582"/>
          <ac:spMkLst>
            <pc:docMk/>
            <pc:sldMk cId="2777030781" sldId="382"/>
            <ac:spMk id="3" creationId="{AB3D5684-5F49-0B75-8A17-E7E9EE75A00C}"/>
          </ac:spMkLst>
        </pc:spChg>
        <pc:spChg chg="del">
          <ac:chgData name="Heasley, Rain" userId="d2d9309b-ceb4-4edd-829e-541379665217" providerId="ADAL" clId="{1D9E8E80-E8AB-45FF-A51A-91F876B31084}" dt="2023-08-25T12:34:24.801" v="16" actId="478"/>
          <ac:spMkLst>
            <pc:docMk/>
            <pc:sldMk cId="2777030781" sldId="382"/>
            <ac:spMk id="4" creationId="{E0AC3EBE-94B6-462E-8F69-8AAE1D95DB9C}"/>
          </ac:spMkLst>
        </pc:spChg>
        <pc:spChg chg="mod">
          <ac:chgData name="Heasley, Rain" userId="d2d9309b-ceb4-4edd-829e-541379665217" providerId="ADAL" clId="{1D9E8E80-E8AB-45FF-A51A-91F876B31084}" dt="2023-08-25T12:34:12.856" v="15" actId="6549"/>
          <ac:spMkLst>
            <pc:docMk/>
            <pc:sldMk cId="2777030781" sldId="382"/>
            <ac:spMk id="5" creationId="{E696052F-FCCE-46B8-9F60-C4370A02CC9C}"/>
          </ac:spMkLst>
        </pc:spChg>
      </pc:sldChg>
      <pc:sldChg chg="modSp">
        <pc:chgData name="Heasley, Rain" userId="d2d9309b-ceb4-4edd-829e-541379665217" providerId="ADAL" clId="{1D9E8E80-E8AB-45FF-A51A-91F876B31084}" dt="2023-08-25T12:39:36.888" v="49" actId="207"/>
        <pc:sldMkLst>
          <pc:docMk/>
          <pc:sldMk cId="4285929045" sldId="385"/>
        </pc:sldMkLst>
        <pc:spChg chg="mod">
          <ac:chgData name="Heasley, Rain" userId="d2d9309b-ceb4-4edd-829e-541379665217" providerId="ADAL" clId="{1D9E8E80-E8AB-45FF-A51A-91F876B31084}" dt="2023-08-25T12:39:36.888" v="49" actId="207"/>
          <ac:spMkLst>
            <pc:docMk/>
            <pc:sldMk cId="4285929045" sldId="385"/>
            <ac:spMk id="5" creationId="{D7235434-0BDB-4345-AA67-F1168D91D1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145" cy="462721"/>
          </a:xfrm>
          <a:prstGeom prst="rect">
            <a:avLst/>
          </a:prstGeom>
        </p:spPr>
        <p:txBody>
          <a:bodyPr vert="horz" lIns="87304" tIns="43652" rIns="87304" bIns="4365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734" y="0"/>
            <a:ext cx="3038145" cy="462721"/>
          </a:xfrm>
          <a:prstGeom prst="rect">
            <a:avLst/>
          </a:prstGeom>
        </p:spPr>
        <p:txBody>
          <a:bodyPr vert="horz" lIns="87304" tIns="43652" rIns="87304" bIns="43652" rtlCol="0"/>
          <a:lstStyle>
            <a:lvl1pPr algn="r">
              <a:defRPr sz="1100"/>
            </a:lvl1pPr>
          </a:lstStyle>
          <a:p>
            <a:fld id="{7CF79C4C-9A95-4F23-B503-12D2C6F00E19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3355"/>
            <a:ext cx="3038145" cy="462720"/>
          </a:xfrm>
          <a:prstGeom prst="rect">
            <a:avLst/>
          </a:prstGeom>
        </p:spPr>
        <p:txBody>
          <a:bodyPr vert="horz" lIns="87304" tIns="43652" rIns="87304" bIns="4365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734" y="8773355"/>
            <a:ext cx="3038145" cy="462720"/>
          </a:xfrm>
          <a:prstGeom prst="rect">
            <a:avLst/>
          </a:prstGeom>
        </p:spPr>
        <p:txBody>
          <a:bodyPr vert="horz" lIns="87304" tIns="43652" rIns="87304" bIns="43652" rtlCol="0" anchor="b"/>
          <a:lstStyle>
            <a:lvl1pPr algn="r">
              <a:defRPr sz="1100"/>
            </a:lvl1pPr>
          </a:lstStyle>
          <a:p>
            <a:fld id="{9BEDD28F-82A9-4FAE-8C69-E41F27D67B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47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37840" cy="463407"/>
          </a:xfrm>
          <a:prstGeom prst="rect">
            <a:avLst/>
          </a:prstGeom>
        </p:spPr>
        <p:txBody>
          <a:bodyPr vert="horz" lIns="92290" tIns="46144" rIns="92290" bIns="461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2"/>
            <a:ext cx="3037840" cy="463407"/>
          </a:xfrm>
          <a:prstGeom prst="rect">
            <a:avLst/>
          </a:prstGeom>
        </p:spPr>
        <p:txBody>
          <a:bodyPr vert="horz" lIns="92290" tIns="46144" rIns="92290" bIns="46144" rtlCol="0"/>
          <a:lstStyle>
            <a:lvl1pPr algn="r">
              <a:defRPr sz="1200"/>
            </a:lvl1pPr>
          </a:lstStyle>
          <a:p>
            <a:fld id="{2BE65169-DB50-4446-8324-0D580DBE95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7200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0" tIns="46144" rIns="92290" bIns="461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290" tIns="46144" rIns="92290" bIns="461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37840" cy="463406"/>
          </a:xfrm>
          <a:prstGeom prst="rect">
            <a:avLst/>
          </a:prstGeom>
        </p:spPr>
        <p:txBody>
          <a:bodyPr vert="horz" lIns="92290" tIns="46144" rIns="92290" bIns="461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69"/>
            <a:ext cx="3037840" cy="463406"/>
          </a:xfrm>
          <a:prstGeom prst="rect">
            <a:avLst/>
          </a:prstGeom>
        </p:spPr>
        <p:txBody>
          <a:bodyPr vert="horz" lIns="92290" tIns="46144" rIns="92290" bIns="46144" rtlCol="0" anchor="b"/>
          <a:lstStyle>
            <a:lvl1pPr algn="r">
              <a:defRPr sz="1200"/>
            </a:lvl1pPr>
          </a:lstStyle>
          <a:p>
            <a:fld id="{30DC0D4C-FD52-4CA4-A998-31C73A5A5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2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600"/>
              </a:spcAft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46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Aft>
                    <a:spcPts val="26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lang="en-US" sz="1200" b="0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</m:oMath>
                </a14:m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en-US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spcAft>
                    <a:spcPts val="2600"/>
                  </a:spcAft>
                </a:pPr>
                <a:r>
                  <a:rPr lang="en-US" sz="120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5/</a:t>
                </a:r>
                <a:r>
                  <a:rPr lang="en-US" sz="12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27</a:t>
                </a:r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1/</a:t>
                </a:r>
                <a:r>
                  <a:rPr lang="en-US" sz="12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6</a:t>
                </a:r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9/48</a:t>
                </a:r>
                <a:r>
                  <a:rPr lang="en-US" sz="1200" b="0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sz="12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7/180</a:t>
                </a:r>
                <a:r>
                  <a:rPr lang="en-US" sz="1200" b="1" i="0">
                    <a:solidFill>
                      <a:srgbClr val="FF0000"/>
                    </a:solidFill>
                    <a:effectLst/>
                    <a:latin typeface="ProximaNova"/>
                  </a:rPr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2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63/100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58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D.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5 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𝑐𝑚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800" dirty="0">
                    <a:solidFill>
                      <a:schemeClr val="tx1"/>
                    </a:solidFill>
                  </a:rPr>
                  <a:t>D.</a:t>
                </a:r>
                <a:r>
                  <a:rPr lang="en-US" sz="2800" dirty="0"/>
                  <a:t> </a:t>
                </a:r>
                <a:r>
                  <a:rPr lang="en-US" sz="2800" i="0" dirty="0">
                    <a:latin typeface="Cambria Math" panose="02040503050406030204" pitchFamily="18" charset="0"/>
                  </a:rPr>
                  <a:t>25</a:t>
                </a:r>
                <a:r>
                  <a:rPr lang="en-US" sz="2800" b="0" i="0" dirty="0">
                    <a:latin typeface="Cambria Math" panose="02040503050406030204" pitchFamily="18" charset="0"/>
                  </a:rPr>
                  <a:t>0</a:t>
                </a:r>
                <a:r>
                  <a:rPr lang="en-US" sz="2800" i="0" dirty="0">
                    <a:latin typeface="Cambria Math" panose="02040503050406030204" pitchFamily="18" charset="0"/>
                  </a:rPr>
                  <a:t>%</a:t>
                </a:r>
                <a:r>
                  <a:rPr lang="en-US" sz="2800" dirty="0"/>
                  <a:t>; </a:t>
                </a:r>
                <a:r>
                  <a:rPr lang="en-US" sz="2800" b="0" i="0" dirty="0">
                    <a:latin typeface="Cambria Math" panose="02040503050406030204" pitchFamily="18" charset="0"/>
                  </a:rPr>
                  <a:t>4</a:t>
                </a:r>
                <a:r>
                  <a:rPr lang="en-US" sz="2800" i="0" dirty="0">
                    <a:latin typeface="Cambria Math" panose="02040503050406030204" pitchFamily="18" charset="0"/>
                  </a:rPr>
                  <a:t>5 𝑐𝑚</a:t>
                </a:r>
                <a:r>
                  <a:rPr lang="en-US" sz="2800" dirty="0"/>
                  <a:t> by </a:t>
                </a:r>
                <a:r>
                  <a:rPr lang="en-US" sz="2800" b="0" i="0" dirty="0">
                    <a:latin typeface="Cambria Math" panose="02040503050406030204" pitchFamily="18" charset="0"/>
                  </a:rPr>
                  <a:t>6</a:t>
                </a:r>
                <a:r>
                  <a:rPr lang="en-US" sz="2800" i="0" dirty="0">
                    <a:latin typeface="Cambria Math" panose="02040503050406030204" pitchFamily="18" charset="0"/>
                  </a:rPr>
                  <a:t>0 𝑐𝑚</a:t>
                </a:r>
                <a:endParaRPr lang="en-US" sz="28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77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800" i="0" dirty="0">
                    <a:latin typeface="Cambria Math" panose="02040503050406030204" pitchFamily="18" charset="0"/>
                  </a:rPr>
                  <a:t>𝑋′( 12, −16) 𝑌′(24, 20) 𝑍′(32, −8)</a:t>
                </a:r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97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′( 12, −16)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′(24, 20) 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′(32, −8)</m:t>
                      </m:r>
                    </m:oMath>
                  </m:oMathPara>
                </a14:m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2800" i="0" dirty="0">
                    <a:latin typeface="Cambria Math" panose="02040503050406030204" pitchFamily="18" charset="0"/>
                  </a:rPr>
                  <a:t>𝑋′( 12, −16) 𝑌′(24, 20) 𝑍′(32, −8)</a:t>
                </a:r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8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49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62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07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49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13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b="0" i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1/3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867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>
                <a:solidFill>
                  <a:srgbClr val="FF0000"/>
                </a:solidFill>
              </a:rPr>
              <a:t>Sample answer: All of the transformations represent a mapping of a preimage to an image. Three of the four transformations are isometries.</a:t>
            </a:r>
          </a:p>
          <a:p>
            <a:r>
              <a:rPr lang="en-IN" sz="1200">
                <a:solidFill>
                  <a:srgbClr val="FF0000"/>
                </a:solidFill>
              </a:rPr>
              <a:t>reflections, translations, and rotations </a:t>
            </a:r>
          </a:p>
          <a:p>
            <a:r>
              <a:rPr lang="en-IN" sz="1200">
                <a:solidFill>
                  <a:srgbClr val="FF0000"/>
                </a:solidFill>
              </a:rPr>
              <a:t>translations, rotations, and dilations</a:t>
            </a:r>
            <a:endParaRPr lang="en-IN" sz="120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3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dirty="0">
                <a:solidFill>
                  <a:srgbClr val="FF0000"/>
                </a:solidFill>
              </a:rPr>
              <a:t>All of the transformations represent a mapping of a preimage to an image. Three of the four transformations are isometries.</a:t>
            </a:r>
          </a:p>
          <a:p>
            <a:r>
              <a:rPr lang="en-IN" sz="1200" dirty="0">
                <a:solidFill>
                  <a:srgbClr val="FF0000"/>
                </a:solidFill>
              </a:rPr>
              <a:t>reflections, translations, and rotations </a:t>
            </a:r>
          </a:p>
          <a:p>
            <a:r>
              <a:rPr lang="en-IN" sz="1200" dirty="0">
                <a:solidFill>
                  <a:srgbClr val="FF0000"/>
                </a:solidFill>
              </a:rPr>
              <a:t>translations, rotations, and dilations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DC0D4C-FD52-4CA4-A998-31C73A5A5BD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92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D3A1D-D0ED-E64E-9099-4FF590EB6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664F-5CF3-934E-88C9-0AD27C45C74E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4D543-EA8C-9842-9BFA-56F3E512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A8BEA-2F03-974A-8B26-430B26EC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4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83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80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2" userDrawn="1">
          <p15:clr>
            <a:srgbClr val="FBAE40"/>
          </p15:clr>
        </p15:guide>
        <p15:guide id="2" orient="horz" pos="804" userDrawn="1">
          <p15:clr>
            <a:srgbClr val="FBAE40"/>
          </p15:clr>
        </p15:guide>
        <p15:guide id="3" pos="384" userDrawn="1">
          <p15:clr>
            <a:srgbClr val="FBAE40"/>
          </p15:clr>
        </p15:guide>
        <p15:guide id="4" pos="3940" userDrawn="1">
          <p15:clr>
            <a:srgbClr val="FBAE40"/>
          </p15:clr>
        </p15:guide>
        <p15:guide id="5" pos="40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70764B-AC75-BC43-A405-EDC296E375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2908" y="5619163"/>
            <a:ext cx="654674" cy="654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78E90B-5416-8D48-A26D-98B4B394D5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323" y="0"/>
            <a:ext cx="7705677" cy="1866514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216A21A-A3B0-4B4C-B338-0742A8D99578}"/>
              </a:ext>
            </a:extLst>
          </p:cNvPr>
          <p:cNvSpPr txBox="1">
            <a:spLocks/>
          </p:cNvSpPr>
          <p:nvPr userDrawn="1"/>
        </p:nvSpPr>
        <p:spPr>
          <a:xfrm>
            <a:off x="1402828" y="6528816"/>
            <a:ext cx="627096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Copyright © McGraw Hill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4EF957-5CB0-DA4C-9327-91AF4A044E8A}"/>
              </a:ext>
            </a:extLst>
          </p:cNvPr>
          <p:cNvCxnSpPr/>
          <p:nvPr userDrawn="1"/>
        </p:nvCxnSpPr>
        <p:spPr>
          <a:xfrm>
            <a:off x="0" y="6432698"/>
            <a:ext cx="12192000" cy="0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E0FB11E-B90E-3F4B-9353-B5D2722ED90B}"/>
              </a:ext>
            </a:extLst>
          </p:cNvPr>
          <p:cNvSpPr txBox="1">
            <a:spLocks/>
          </p:cNvSpPr>
          <p:nvPr userDrawn="1"/>
        </p:nvSpPr>
        <p:spPr>
          <a:xfrm>
            <a:off x="9064487" y="6399634"/>
            <a:ext cx="3107634" cy="4782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material may be reproduced for licensed classroom use only and may not be further reproduced or distributed.</a:t>
            </a:r>
          </a:p>
        </p:txBody>
      </p:sp>
    </p:spTree>
    <p:extLst>
      <p:ext uri="{BB962C8B-B14F-4D97-AF65-F5344CB8AC3E}">
        <p14:creationId xmlns:p14="http://schemas.microsoft.com/office/powerpoint/2010/main" val="1781000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8CDEFB-1930-9E45-BF92-75A2E2B54F5E}"/>
              </a:ext>
            </a:extLst>
          </p:cNvPr>
          <p:cNvCxnSpPr/>
          <p:nvPr userDrawn="1"/>
        </p:nvCxnSpPr>
        <p:spPr>
          <a:xfrm>
            <a:off x="0" y="6432698"/>
            <a:ext cx="12192000" cy="0"/>
          </a:xfrm>
          <a:prstGeom prst="line">
            <a:avLst/>
          </a:prstGeom>
          <a:ln w="222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8D4FF0F4-3EB3-C14A-9D8D-940E128EAF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103" y="0"/>
            <a:ext cx="4896897" cy="1186155"/>
          </a:xfrm>
          <a:prstGeom prst="rect">
            <a:avLst/>
          </a:prstGeom>
        </p:spPr>
      </p:pic>
      <p:sp>
        <p:nvSpPr>
          <p:cNvPr id="13" name="Footer Placeholder 9">
            <a:extLst>
              <a:ext uri="{FF2B5EF4-FFF2-40B4-BE49-F238E27FC236}">
                <a16:creationId xmlns:a16="http://schemas.microsoft.com/office/drawing/2014/main" id="{7D925791-6F2B-EF4D-8846-D6D343AAE915}"/>
              </a:ext>
            </a:extLst>
          </p:cNvPr>
          <p:cNvSpPr txBox="1">
            <a:spLocks/>
          </p:cNvSpPr>
          <p:nvPr userDrawn="1"/>
        </p:nvSpPr>
        <p:spPr>
          <a:xfrm>
            <a:off x="490549" y="6528815"/>
            <a:ext cx="1036320" cy="32466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McGraw Hill   </a:t>
            </a:r>
            <a:r>
              <a:rPr lang="en-US" sz="900" b="1" spc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endParaRPr lang="en-US" sz="9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ooter Placeholder 9">
            <a:extLst>
              <a:ext uri="{FF2B5EF4-FFF2-40B4-BE49-F238E27FC236}">
                <a16:creationId xmlns:a16="http://schemas.microsoft.com/office/drawing/2014/main" id="{D1F3FF48-D6F7-7149-BC0E-351B7F3AA818}"/>
              </a:ext>
            </a:extLst>
          </p:cNvPr>
          <p:cNvSpPr txBox="1">
            <a:spLocks/>
          </p:cNvSpPr>
          <p:nvPr userDrawn="1"/>
        </p:nvSpPr>
        <p:spPr>
          <a:xfrm>
            <a:off x="1385464" y="6528815"/>
            <a:ext cx="4694822" cy="324681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Dilations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3FF195-7E95-4741-972B-1D42479F5FDE}"/>
              </a:ext>
            </a:extLst>
          </p:cNvPr>
          <p:cNvSpPr txBox="1">
            <a:spLocks/>
          </p:cNvSpPr>
          <p:nvPr userDrawn="1"/>
        </p:nvSpPr>
        <p:spPr>
          <a:xfrm>
            <a:off x="9064487" y="6399634"/>
            <a:ext cx="3107634" cy="4782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material may be reproduced for licensed classroom use only and may not be further reproduced or distributed.</a:t>
            </a:r>
          </a:p>
        </p:txBody>
      </p:sp>
    </p:spTree>
    <p:extLst>
      <p:ext uri="{BB962C8B-B14F-4D97-AF65-F5344CB8AC3E}">
        <p14:creationId xmlns:p14="http://schemas.microsoft.com/office/powerpoint/2010/main" val="150288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5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orient="horz" pos="36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384" userDrawn="1">
          <p15:clr>
            <a:srgbClr val="F26B43"/>
          </p15:clr>
        </p15:guide>
        <p15:guide id="7" pos="7296" userDrawn="1">
          <p15:clr>
            <a:srgbClr val="F26B43"/>
          </p15:clr>
        </p15:guide>
        <p15:guide id="9" orient="horz" pos="4211" userDrawn="1">
          <p15:clr>
            <a:srgbClr val="F26B43"/>
          </p15:clr>
        </p15:guide>
        <p15:guide id="10" pos="1120" userDrawn="1">
          <p15:clr>
            <a:srgbClr val="F26B43"/>
          </p15:clr>
        </p15:guide>
        <p15:guide id="11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0B2791FD-11C6-E043-A628-3CAF291B2B93}"/>
              </a:ext>
            </a:extLst>
          </p:cNvPr>
          <p:cNvSpPr txBox="1">
            <a:spLocks/>
          </p:cNvSpPr>
          <p:nvPr/>
        </p:nvSpPr>
        <p:spPr>
          <a:xfrm>
            <a:off x="1402828" y="2072396"/>
            <a:ext cx="9144000" cy="124399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rgbClr val="33175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Dilations</a:t>
            </a:r>
          </a:p>
        </p:txBody>
      </p:sp>
    </p:spTree>
    <p:extLst>
      <p:ext uri="{BB962C8B-B14F-4D97-AF65-F5344CB8AC3E}">
        <p14:creationId xmlns:p14="http://schemas.microsoft.com/office/powerpoint/2010/main" val="234523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CF4AF49-89F7-5C44-B082-4D1951B38CC4}"/>
              </a:ext>
            </a:extLst>
          </p:cNvPr>
          <p:cNvSpPr txBox="1">
            <a:spLocks/>
          </p:cNvSpPr>
          <p:nvPr/>
        </p:nvSpPr>
        <p:spPr>
          <a:xfrm>
            <a:off x="476652" y="332812"/>
            <a:ext cx="3904129" cy="661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Warm Up</a:t>
            </a:r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7D5C8EC-F1EF-6146-850F-128719B25F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652" y="1332861"/>
                <a:ext cx="7396688" cy="49135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Write each fraction in simplest form.</a:t>
                </a:r>
              </a:p>
              <a:p>
                <a:r>
                  <a:rPr lang="en-US" sz="2800" b="1" dirty="0">
                    <a:solidFill>
                      <a:srgbClr val="333333"/>
                    </a:solidFill>
                  </a:rPr>
                  <a:t>1.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2.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Proxima Nova" panose="02000506030000020004" pitchFamily="50" charset="0"/>
                  </a:rPr>
                  <a:t>	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3.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4.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5.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189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7D5C8EC-F1EF-6146-850F-128719B25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52" y="1332861"/>
                <a:ext cx="7396688" cy="4913559"/>
              </a:xfrm>
              <a:prstGeom prst="rect">
                <a:avLst/>
              </a:prstGeom>
              <a:blipFill>
                <a:blip r:embed="rId3"/>
                <a:stretch>
                  <a:fillRect l="-1647" t="-1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3F07B3-026F-3E4E-960A-6AE002A120F0}"/>
              </a:ext>
            </a:extLst>
          </p:cNvPr>
          <p:cNvSpPr txBox="1"/>
          <p:nvPr/>
        </p:nvSpPr>
        <p:spPr>
          <a:xfrm>
            <a:off x="2746592" y="1930603"/>
            <a:ext cx="780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600"/>
              </a:spcAft>
            </a:pPr>
            <a:r>
              <a:rPr lang="en-US" sz="2800" b="1" i="0">
                <a:solidFill>
                  <a:srgbClr val="FF0000"/>
                </a:solidFill>
                <a:effectLst/>
                <a:latin typeface="ProximaNov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935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3CF4AF49-89F7-5C44-B082-4D1951B38CC4}"/>
              </a:ext>
            </a:extLst>
          </p:cNvPr>
          <p:cNvSpPr txBox="1">
            <a:spLocks/>
          </p:cNvSpPr>
          <p:nvPr/>
        </p:nvSpPr>
        <p:spPr>
          <a:xfrm>
            <a:off x="476652" y="332812"/>
            <a:ext cx="3904129" cy="661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Warm Up</a:t>
            </a:r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7D5C8EC-F1EF-6146-850F-128719B25F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652" y="1332861"/>
                <a:ext cx="7396688" cy="49135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Write each fraction in simplest form.</a:t>
                </a:r>
              </a:p>
              <a:p>
                <a:r>
                  <a:rPr lang="en-US" sz="2800" b="1" dirty="0">
                    <a:solidFill>
                      <a:srgbClr val="333333"/>
                    </a:solidFill>
                  </a:rPr>
                  <a:t>1.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𝟐𝟕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333333"/>
                  </a:solidFill>
                  <a:latin typeface="Proxima Nova" panose="02000506030000020004" pitchFamily="50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2.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  <a:latin typeface="Proxima Nova" panose="02000506030000020004" pitchFamily="50" charset="0"/>
                  </a:rPr>
                  <a:t>	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FF0000"/>
                  </a:solidFill>
                  <a:latin typeface="Proxima Nova" panose="02000506030000020004" pitchFamily="50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3.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95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</m:num>
                      <m:den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𝟒𝟖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333333"/>
                  </a:solidFill>
                  <a:latin typeface="Proxima Nova" panose="02000506030000020004" pitchFamily="50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4.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540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𝟏𝟖𝟎</m:t>
                        </m:r>
                      </m:den>
                    </m:f>
                  </m:oMath>
                </a14:m>
                <a:endParaRPr lang="en-US" sz="2800" b="1" dirty="0">
                  <a:solidFill>
                    <a:srgbClr val="333333"/>
                  </a:solidFill>
                  <a:latin typeface="Proxima Nova" panose="02000506030000020004" pitchFamily="50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sz="2800" b="1" dirty="0">
                    <a:solidFill>
                      <a:srgbClr val="333333"/>
                    </a:solidFill>
                  </a:rPr>
                  <a:t>5.</a:t>
                </a:r>
                <a:r>
                  <a:rPr lang="en-US" sz="2800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189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333333"/>
                    </a:solidFill>
                    <a:latin typeface="Proxima Nova" panose="02000506030000020004" pitchFamily="50" charset="0"/>
                  </a:rPr>
                  <a:t>	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𝟔𝟑</m:t>
                        </m:r>
                      </m:num>
                      <m:den>
                        <m:r>
                          <a:rPr lang="en-US" sz="28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𝟏𝟎𝟎</m:t>
                        </m:r>
                      </m:den>
                    </m:f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endParaRPr lang="en-US" sz="2800" b="1" dirty="0">
                  <a:solidFill>
                    <a:srgbClr val="333333"/>
                  </a:solidFill>
                  <a:latin typeface="Proxima Nova" panose="02000506030000020004" pitchFamily="50" charset="0"/>
                </a:endParaRP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D7D5C8EC-F1EF-6146-850F-128719B25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52" y="1332861"/>
                <a:ext cx="7396688" cy="4913559"/>
              </a:xfrm>
              <a:prstGeom prst="rect">
                <a:avLst/>
              </a:prstGeom>
              <a:blipFill>
                <a:blip r:embed="rId3"/>
                <a:stretch>
                  <a:fillRect l="-1647" t="-1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E3F07B3-026F-3E4E-960A-6AE002A120F0}"/>
              </a:ext>
            </a:extLst>
          </p:cNvPr>
          <p:cNvSpPr txBox="1"/>
          <p:nvPr/>
        </p:nvSpPr>
        <p:spPr>
          <a:xfrm>
            <a:off x="2746592" y="1930603"/>
            <a:ext cx="780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600"/>
              </a:spcAft>
            </a:pPr>
            <a:r>
              <a:rPr lang="en-US" sz="2800" b="1" i="0">
                <a:solidFill>
                  <a:srgbClr val="FF0000"/>
                </a:solidFill>
                <a:effectLst/>
                <a:latin typeface="ProximaNov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4635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2" y="1770590"/>
            <a:ext cx="10766928" cy="323320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0" i="0" u="none" strike="noStrike" baseline="0" dirty="0"/>
              <a:t>● Use scale factors to calculate the dimensions of dilated images.</a:t>
            </a:r>
          </a:p>
          <a:p>
            <a:pPr algn="l"/>
            <a:r>
              <a:rPr lang="en-US" sz="2800" b="0" i="0" u="none" strike="noStrike" baseline="0" dirty="0"/>
              <a:t>● Represent dilations as functions and find the scale factors of dilations.</a:t>
            </a:r>
            <a:endParaRPr lang="en-IN" sz="28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9DD125F-CFF1-4547-A589-1CE0FB62F2E8}"/>
              </a:ext>
            </a:extLst>
          </p:cNvPr>
          <p:cNvSpPr txBox="1">
            <a:spLocks/>
          </p:cNvSpPr>
          <p:nvPr/>
        </p:nvSpPr>
        <p:spPr>
          <a:xfrm>
            <a:off x="459873" y="332812"/>
            <a:ext cx="3904129" cy="6611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Learning objectives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406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2" y="1619076"/>
            <a:ext cx="10397313" cy="35940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</a:t>
            </a:r>
            <a:r>
              <a:rPr lang="en-US" sz="2800" b="1" dirty="0"/>
              <a:t>rigid motion</a:t>
            </a:r>
            <a:r>
              <a:rPr lang="en-US" sz="2800" dirty="0"/>
              <a:t> moves a shape without changing its size or shape.</a:t>
            </a:r>
          </a:p>
          <a:p>
            <a:r>
              <a:rPr lang="en-US" sz="2800" dirty="0"/>
              <a:t>The original shape is the </a:t>
            </a:r>
            <a:r>
              <a:rPr lang="en-US" sz="2800" b="1" dirty="0"/>
              <a:t>preimage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The new shape is the </a:t>
            </a:r>
            <a:r>
              <a:rPr lang="en-US" sz="2800" b="1" dirty="0"/>
              <a:t>image</a:t>
            </a:r>
            <a:r>
              <a:rPr lang="en-US" sz="2800" dirty="0"/>
              <a:t>.</a:t>
            </a:r>
          </a:p>
          <a:p>
            <a:r>
              <a:rPr lang="en-US" sz="2800" dirty="0"/>
              <a:t>A </a:t>
            </a:r>
            <a:r>
              <a:rPr lang="en-US" sz="2800" b="1" dirty="0"/>
              <a:t>nonrigid transformation</a:t>
            </a:r>
            <a:r>
              <a:rPr lang="en-US" sz="2800" dirty="0"/>
              <a:t> changes a shape’s size.</a:t>
            </a:r>
          </a:p>
          <a:p>
            <a:r>
              <a:rPr lang="en-US" sz="2800" dirty="0"/>
              <a:t>A </a:t>
            </a:r>
            <a:r>
              <a:rPr lang="en-US" sz="2800" b="1" dirty="0"/>
              <a:t>dilation</a:t>
            </a:r>
            <a:r>
              <a:rPr lang="en-US" sz="2800" dirty="0"/>
              <a:t> makes a shape bigger or smaller. The image has side lengths proportional to the original shape.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2862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Learn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US" sz="2800" b="0">
                <a:solidFill>
                  <a:schemeClr val="tx1"/>
                </a:solidFill>
              </a:rPr>
              <a:t>Dilations</a:t>
            </a:r>
          </a:p>
        </p:txBody>
      </p:sp>
    </p:spTree>
    <p:extLst>
      <p:ext uri="{BB962C8B-B14F-4D97-AF65-F5344CB8AC3E}">
        <p14:creationId xmlns:p14="http://schemas.microsoft.com/office/powerpoint/2010/main" val="339455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3" y="1619076"/>
            <a:ext cx="10512927" cy="455049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The </a:t>
            </a:r>
            <a:r>
              <a:rPr lang="en-US" sz="2800" b="1" dirty="0"/>
              <a:t>center of dilation</a:t>
            </a:r>
            <a:r>
              <a:rPr lang="en-US" sz="2800" dirty="0"/>
              <a:t> is the fixed point used to enlarge or reduce a shape.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scale factor</a:t>
            </a:r>
            <a:r>
              <a:rPr lang="en-US" sz="2800" dirty="0"/>
              <a:t>, usually written as </a:t>
            </a:r>
            <a:r>
              <a:rPr lang="en-US" sz="2800" b="1" dirty="0"/>
              <a:t>k</a:t>
            </a:r>
            <a:r>
              <a:rPr lang="en-US" sz="2800" dirty="0"/>
              <a:t>, tells how much the shape changes.</a:t>
            </a:r>
          </a:p>
          <a:p>
            <a:r>
              <a:rPr lang="en-US" sz="2800" dirty="0"/>
              <a:t>If </a:t>
            </a:r>
            <a:r>
              <a:rPr lang="en-US" sz="2800" b="1" dirty="0"/>
              <a:t>k &gt; 1</a:t>
            </a:r>
            <a:r>
              <a:rPr lang="en-US" sz="2800" dirty="0"/>
              <a:t>, the image is bigger. </a:t>
            </a:r>
          </a:p>
          <a:p>
            <a:r>
              <a:rPr lang="en-US" sz="2800" dirty="0"/>
              <a:t>If </a:t>
            </a:r>
            <a:r>
              <a:rPr lang="en-US" sz="2800" b="1" dirty="0"/>
              <a:t>0 &lt; k &lt; 1</a:t>
            </a:r>
            <a:r>
              <a:rPr lang="en-US" sz="2800" dirty="0"/>
              <a:t>, the image is smaller.</a:t>
            </a:r>
          </a:p>
          <a:p>
            <a:r>
              <a:rPr lang="en-IN" sz="2800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2862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0" dirty="0">
                <a:solidFill>
                  <a:schemeClr val="tx1"/>
                </a:solidFill>
              </a:rPr>
              <a:t>Dilations</a:t>
            </a:r>
          </a:p>
        </p:txBody>
      </p:sp>
    </p:spTree>
    <p:extLst>
      <p:ext uri="{BB962C8B-B14F-4D97-AF65-F5344CB8AC3E}">
        <p14:creationId xmlns:p14="http://schemas.microsoft.com/office/powerpoint/2010/main" val="421576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4"/>
                <a:ext cx="6667068" cy="209225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Determine whether the dilation from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IN" sz="2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𝑫𝑬𝑭</m:t>
                    </m:r>
                  </m:oMath>
                </a14:m>
                <a:r>
                  <a:rPr lang="en-IN" sz="2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is an </a:t>
                </a:r>
                <a:r>
                  <a:rPr lang="en-IN" sz="2800" b="1" i="1" dirty="0">
                    <a:solidFill>
                      <a:schemeClr val="tx1"/>
                    </a:solidFill>
                  </a:rPr>
                  <a:t>enlargement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or a </a:t>
                </a:r>
                <a:r>
                  <a:rPr lang="en-IN" sz="2800" b="1" i="1" dirty="0">
                    <a:solidFill>
                      <a:schemeClr val="tx1"/>
                    </a:solidFill>
                  </a:rPr>
                  <a:t>reduction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. Then find the scale factor of the dilation. </a:t>
                </a:r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4"/>
                <a:ext cx="6667068" cy="2092259"/>
              </a:xfrm>
              <a:prstGeom prst="rect">
                <a:avLst/>
              </a:prstGeom>
              <a:blipFill>
                <a:blip r:embed="rId2"/>
                <a:stretch>
                  <a:fillRect l="-1828" t="-2915" r="-2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dirty="0">
                <a:solidFill>
                  <a:srgbClr val="0070C0"/>
                </a:solidFill>
              </a:rPr>
            </a:br>
            <a:r>
              <a:rPr lang="en-IN" sz="2800" b="0" dirty="0">
                <a:solidFill>
                  <a:schemeClr val="tx1"/>
                </a:solidFill>
              </a:rPr>
              <a:t>Identify a Dilation to Find Scale Factor</a:t>
            </a:r>
            <a:endParaRPr lang="en-US" sz="2800" b="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F71A0B-FD30-43CD-961A-0AF929AA60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670" y="1707844"/>
            <a:ext cx="3101011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77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3" y="1707844"/>
                <a:ext cx="7067361" cy="3132513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𝐷𝐸𝐹</m:t>
                    </m:r>
                  </m:oMath>
                </a14:m>
                <a:r>
                  <a:rPr lang="en-IN" sz="2800" i="1" dirty="0"/>
                  <a:t> </a:t>
                </a:r>
                <a:r>
                  <a:rPr lang="en-IN" sz="2800" dirty="0"/>
                  <a:t>is smaller than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IN" sz="2800" dirty="0"/>
                  <a:t>, so the dilation is a reduction. The scale factor is equal to the side length of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𝐷𝐸𝐹</m:t>
                    </m:r>
                  </m:oMath>
                </a14:m>
                <a:r>
                  <a:rPr lang="en-IN" sz="2800" i="1" dirty="0"/>
                  <a:t> </a:t>
                </a:r>
                <a:r>
                  <a:rPr lang="en-IN" sz="2800" dirty="0"/>
                  <a:t>divided by the corresponding side length of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IN" sz="2800" dirty="0"/>
                  <a:t>.</a:t>
                </a:r>
              </a:p>
              <a:p>
                <a:r>
                  <a:rPr lang="en-IN" sz="2800" dirty="0"/>
                  <a:t>So, the scale factor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800" b="0" i="0" dirty="0">
                    <a:latin typeface="+mj-lt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IN" sz="2800" dirty="0"/>
                  <a:t>. </a:t>
                </a:r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1707844"/>
                <a:ext cx="7067361" cy="3132513"/>
              </a:xfrm>
              <a:prstGeom prst="rect">
                <a:avLst/>
              </a:prstGeom>
              <a:blipFill>
                <a:blip r:embed="rId2"/>
                <a:stretch>
                  <a:fillRect l="-1724" t="-1946" r="-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dirty="0">
                <a:solidFill>
                  <a:srgbClr val="0070C0"/>
                </a:solidFill>
              </a:rPr>
            </a:br>
            <a:r>
              <a:rPr lang="en-IN" sz="2800" b="0" dirty="0">
                <a:solidFill>
                  <a:schemeClr val="tx1"/>
                </a:solidFill>
              </a:rPr>
              <a:t>Identify a Dilation to Find Scale Factor</a:t>
            </a:r>
            <a:endParaRPr lang="en-US" sz="28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49D448-52A6-4CDC-9F4B-93793B92B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635" y="1707844"/>
            <a:ext cx="3101011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33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228F-EBE6-43BE-9160-23EBEC902351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0578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800" dirty="0">
                <a:solidFill>
                  <a:srgbClr val="0070C0"/>
                </a:solidFill>
              </a:rPr>
            </a:br>
            <a:r>
              <a:rPr lang="en-IN" sz="2800" b="0" dirty="0">
                <a:solidFill>
                  <a:schemeClr val="tx1"/>
                </a:solidFill>
              </a:rPr>
              <a:t>Find and Use a Scale Factor</a:t>
            </a:r>
            <a:endParaRPr lang="en-US" sz="28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ED4A29-B80F-4074-AC78-7FE4FA5156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3" y="1276351"/>
                <a:ext cx="9741402" cy="502920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Check</a:t>
                </a:r>
              </a:p>
              <a:p>
                <a:r>
                  <a:rPr lang="en-IN" sz="2800" b="1" dirty="0">
                    <a:solidFill>
                      <a:schemeClr val="tx1"/>
                    </a:solidFill>
                  </a:rPr>
                  <a:t>PORTRAITS </a:t>
                </a:r>
                <a:r>
                  <a:rPr lang="en-US" sz="2800" dirty="0"/>
                  <a:t>Natalia wants to print an enlarged family portrait for her mother. By what percent should Natalia enlarge the portrait so that the dimensions of its image are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800" dirty="0"/>
                  <a:t> times that of the original? What will be the dimensions of the enlarged portrait?</a:t>
                </a:r>
              </a:p>
              <a:p>
                <a:r>
                  <a:rPr lang="en-IN" sz="2800" dirty="0">
                    <a:solidFill>
                      <a:schemeClr val="tx1"/>
                    </a:solidFill>
                  </a:rPr>
                  <a:t>A.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125%</m:t>
                    </m:r>
                  </m:oMath>
                </a14:m>
                <a:r>
                  <a:rPr lang="en-US" sz="2800" i="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22.5 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i="0" dirty="0">
                    <a:latin typeface="+mj-lt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B.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125%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5 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/>
              </a:p>
              <a:p>
                <a:r>
                  <a:rPr lang="en-IN" sz="2800" dirty="0">
                    <a:solidFill>
                      <a:schemeClr val="tx1"/>
                    </a:solidFill>
                  </a:rPr>
                  <a:t>C.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i="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22.5 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i="0" dirty="0">
                    <a:latin typeface="+mj-lt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5 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ED4A29-B80F-4074-AC78-7FE4FA515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1276351"/>
                <a:ext cx="9741402" cy="5029200"/>
              </a:xfrm>
              <a:prstGeom prst="rect">
                <a:avLst/>
              </a:prstGeom>
              <a:blipFill>
                <a:blip r:embed="rId2"/>
                <a:stretch>
                  <a:fillRect l="-1252" t="-1212" r="-1252" b="-5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346E41-FE57-4F84-A916-39C7BB9DB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646" y="3662151"/>
            <a:ext cx="4001058" cy="27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3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291D-B3D7-40BC-8BA9-8FD5A3F6694A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Example 2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Find and Use a Scale Factor</a:t>
            </a:r>
            <a:endParaRPr lang="en-US" sz="2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696052F-FCCE-46B8-9F60-C4370A02C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3" y="1276351"/>
                <a:ext cx="9741402" cy="502920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Check</a:t>
                </a:r>
              </a:p>
              <a:p>
                <a:r>
                  <a:rPr lang="en-IN" sz="2800" b="1" dirty="0">
                    <a:solidFill>
                      <a:schemeClr val="tx1"/>
                    </a:solidFill>
                  </a:rPr>
                  <a:t>PORTRAITS </a:t>
                </a:r>
                <a:r>
                  <a:rPr lang="en-US" sz="2800" dirty="0"/>
                  <a:t>Natalia wants to print an enlarged family portrait for her mother. By what percent should Natalia enlarge the portrait so that the dimensions of its image are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2.5</m:t>
                    </m:r>
                  </m:oMath>
                </a14:m>
                <a:r>
                  <a:rPr lang="en-US" sz="2800" dirty="0"/>
                  <a:t> times that of the original? What will be the dimensions of the enlarged portrait?</a:t>
                </a:r>
              </a:p>
              <a:p>
                <a:r>
                  <a:rPr lang="en-IN" sz="2800" dirty="0">
                    <a:solidFill>
                      <a:schemeClr val="tx1"/>
                    </a:solidFill>
                  </a:rPr>
                  <a:t>A.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125%</m:t>
                    </m:r>
                  </m:oMath>
                </a14:m>
                <a:r>
                  <a:rPr lang="en-US" sz="2800" i="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22.5 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i="0" dirty="0">
                    <a:latin typeface="+mj-lt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B.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125%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5 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/>
              </a:p>
              <a:p>
                <a:r>
                  <a:rPr lang="en-IN" sz="2800" dirty="0">
                    <a:solidFill>
                      <a:schemeClr val="tx1"/>
                    </a:solidFill>
                  </a:rPr>
                  <a:t>C.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i="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22.5 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i="0" dirty="0">
                    <a:latin typeface="+mj-lt"/>
                  </a:rPr>
                  <a:t> by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30 </m:t>
                    </m:r>
                    <m:r>
                      <m:rPr>
                        <m:sty m:val="p"/>
                      </m:rPr>
                      <a:rPr lang="en-US" sz="2800" i="0" dirty="0" smtClean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r>
                  <a:rPr lang="en-US" sz="2800" dirty="0">
                    <a:solidFill>
                      <a:schemeClr val="tx1"/>
                    </a:solidFill>
                  </a:rPr>
                  <a:t>D.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800" dirty="0"/>
                  <a:t>;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5 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r>
                  <a:rPr lang="en-US" sz="2800" dirty="0"/>
                  <a:t> by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0 </m:t>
                    </m:r>
                    <m:r>
                      <m:rPr>
                        <m:sty m:val="p"/>
                      </m:rPr>
                      <a:rPr lang="en-US" sz="2800" i="0" dirty="0">
                        <a:latin typeface="Cambria Math" panose="02040503050406030204" pitchFamily="18" charset="0"/>
                      </a:rPr>
                      <m:t>cm</m:t>
                    </m:r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E696052F-FCCE-46B8-9F60-C4370A02C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1276351"/>
                <a:ext cx="9741402" cy="5029200"/>
              </a:xfrm>
              <a:prstGeom prst="rect">
                <a:avLst/>
              </a:prstGeom>
              <a:blipFill>
                <a:blip r:embed="rId3"/>
                <a:stretch>
                  <a:fillRect l="-1252" t="-1212" r="-1252" b="-5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760111F-E535-4A87-BEDA-1D954F36D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646" y="3662151"/>
            <a:ext cx="4001058" cy="27196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B3D5684-5F49-0B75-8A17-E7E9EE75A00C}"/>
              </a:ext>
            </a:extLst>
          </p:cNvPr>
          <p:cNvSpPr/>
          <p:nvPr/>
        </p:nvSpPr>
        <p:spPr>
          <a:xfrm>
            <a:off x="459872" y="5924550"/>
            <a:ext cx="457200" cy="457201"/>
          </a:xfrm>
          <a:prstGeom prst="ellipse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30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3" y="1611160"/>
                <a:ext cx="9731877" cy="1616380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On the coordinate plane, a dilation is a function in which the coordinates of the vertices of a figure are multiplied by the same ratio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.</a:t>
                </a:r>
                <a:endParaRPr lang="en-US" sz="2800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1611160"/>
                <a:ext cx="9731877" cy="1616380"/>
              </a:xfrm>
              <a:prstGeom prst="rect">
                <a:avLst/>
              </a:prstGeom>
              <a:blipFill>
                <a:blip r:embed="rId2"/>
                <a:stretch>
                  <a:fillRect l="-1252" t="-3774" r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Learn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Dilations on the Coordinate Plane</a:t>
            </a:r>
            <a:endParaRPr lang="en-US" sz="2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63D5D09-4FAF-46B2-82DF-A0A4D2AAD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939241"/>
                  </p:ext>
                </p:extLst>
              </p:nvPr>
            </p:nvGraphicFramePr>
            <p:xfrm>
              <a:off x="459873" y="3314701"/>
              <a:ext cx="10265278" cy="28964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893309">
                      <a:extLst>
                        <a:ext uri="{9D8B030D-6E8A-4147-A177-3AD203B41FA5}">
                          <a16:colId xmlns:a16="http://schemas.microsoft.com/office/drawing/2014/main" val="1911535067"/>
                        </a:ext>
                      </a:extLst>
                    </a:gridCol>
                    <a:gridCol w="8371969">
                      <a:extLst>
                        <a:ext uri="{9D8B030D-6E8A-4147-A177-3AD203B41FA5}">
                          <a16:colId xmlns:a16="http://schemas.microsoft.com/office/drawing/2014/main" val="2329369911"/>
                        </a:ext>
                      </a:extLst>
                    </a:gridCol>
                  </a:tblGrid>
                  <a:tr h="699002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1" dirty="0">
                              <a:solidFill>
                                <a:schemeClr val="tx1"/>
                              </a:solidFill>
                            </a:rPr>
                            <a:t>Key Concept: </a:t>
                          </a:r>
                          <a:r>
                            <a:rPr lang="en-IN" sz="2800" b="1" dirty="0">
                              <a:solidFill>
                                <a:schemeClr val="tx2"/>
                              </a:solidFill>
                            </a:rPr>
                            <a:t>Dilations on the Coordinate Plane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6359752"/>
                      </a:ext>
                    </a:extLst>
                  </a:tr>
                  <a:tr h="15012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1" dirty="0"/>
                            <a:t>Words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To dilate a figure by a scale factor of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IN" sz="2800" b="0" i="1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with respect to the center of dilation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(0,</m:t>
                              </m:r>
                              <m:r>
                                <a:rPr lang="en-US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0)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, multiply the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 and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-coordinate of each vertex by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849061"/>
                      </a:ext>
                    </a:extLst>
                  </a:tr>
                  <a:tr h="696146">
                    <a:tc>
                      <a:txBody>
                        <a:bodyPr/>
                        <a:lstStyle/>
                        <a:p>
                          <a:r>
                            <a:rPr lang="en-IN" sz="2800" b="1" dirty="0"/>
                            <a:t>Symbols</a:t>
                          </a:r>
                          <a:endParaRPr lang="en-US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 ⟶ (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𝑘𝑥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𝑘𝑦</m:t>
                                </m:r>
                                <m:r>
                                  <a:rPr lang="en-IN" sz="2800" b="0" i="1" u="none" strike="noStrike" kern="1200" baseline="0" dirty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800" b="0" i="0" u="none" strike="noStrike" kern="1200" baseline="0" dirty="0">
                            <a:solidFill>
                              <a:srgbClr val="9F224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2884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63D5D09-4FAF-46B2-82DF-A0A4D2AAD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3939241"/>
                  </p:ext>
                </p:extLst>
              </p:nvPr>
            </p:nvGraphicFramePr>
            <p:xfrm>
              <a:off x="459873" y="3314701"/>
              <a:ext cx="10265278" cy="28964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893309">
                      <a:extLst>
                        <a:ext uri="{9D8B030D-6E8A-4147-A177-3AD203B41FA5}">
                          <a16:colId xmlns:a16="http://schemas.microsoft.com/office/drawing/2014/main" val="1911535067"/>
                        </a:ext>
                      </a:extLst>
                    </a:gridCol>
                    <a:gridCol w="8371969">
                      <a:extLst>
                        <a:ext uri="{9D8B030D-6E8A-4147-A177-3AD203B41FA5}">
                          <a16:colId xmlns:a16="http://schemas.microsoft.com/office/drawing/2014/main" val="2329369911"/>
                        </a:ext>
                      </a:extLst>
                    </a:gridCol>
                  </a:tblGrid>
                  <a:tr h="699002">
                    <a:tc gridSpan="2"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1" dirty="0">
                              <a:solidFill>
                                <a:schemeClr val="tx1"/>
                              </a:solidFill>
                            </a:rPr>
                            <a:t>Key Concept: </a:t>
                          </a:r>
                          <a:r>
                            <a:rPr lang="en-IN" sz="2800" b="1" dirty="0">
                              <a:solidFill>
                                <a:schemeClr val="tx2"/>
                              </a:solidFill>
                            </a:rPr>
                            <a:t>Dilations on the Coordinate Plane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6359752"/>
                      </a:ext>
                    </a:extLst>
                  </a:tr>
                  <a:tr h="150127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1" dirty="0"/>
                            <a:t>Words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707" t="-50607" r="-146" b="-469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849061"/>
                      </a:ext>
                    </a:extLst>
                  </a:tr>
                  <a:tr h="696146">
                    <a:tc>
                      <a:txBody>
                        <a:bodyPr/>
                        <a:lstStyle/>
                        <a:p>
                          <a:r>
                            <a:rPr lang="en-IN" sz="2800" b="1" dirty="0"/>
                            <a:t>Symbols</a:t>
                          </a:r>
                          <a:endParaRPr lang="en-US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707" t="-326316" r="-146" b="-1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2884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1261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Learn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Dilations on the Coordinate Plane</a:t>
            </a:r>
            <a:endParaRPr lang="en-US" sz="2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96DD811B-6A1D-4FFD-91AD-CAA047275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459058"/>
                  </p:ext>
                </p:extLst>
              </p:nvPr>
            </p:nvGraphicFramePr>
            <p:xfrm>
              <a:off x="479121" y="1698862"/>
              <a:ext cx="9915526" cy="350178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828801">
                      <a:extLst>
                        <a:ext uri="{9D8B030D-6E8A-4147-A177-3AD203B41FA5}">
                          <a16:colId xmlns:a16="http://schemas.microsoft.com/office/drawing/2014/main" val="3009468781"/>
                        </a:ext>
                      </a:extLst>
                    </a:gridCol>
                    <a:gridCol w="8086725">
                      <a:extLst>
                        <a:ext uri="{9D8B030D-6E8A-4147-A177-3AD203B41FA5}">
                          <a16:colId xmlns:a16="http://schemas.microsoft.com/office/drawing/2014/main" val="2379197859"/>
                        </a:ext>
                      </a:extLst>
                    </a:gridCol>
                  </a:tblGrid>
                  <a:tr h="3501785">
                    <a:tc>
                      <a:txBody>
                        <a:bodyPr/>
                        <a:lstStyle/>
                        <a:p>
                          <a:r>
                            <a:rPr lang="en-IN" sz="2800" b="1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Example</a:t>
                          </a:r>
                          <a:endParaRPr lang="en-US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The image of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1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△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𝑃𝑄𝑅</m:t>
                              </m:r>
                            </m:oMath>
                          </a14:m>
                          <a:r>
                            <a:rPr lang="en-IN" sz="2800" b="0" i="1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dilated by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=3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is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1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△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ʹ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𝑄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IN" sz="2800" b="0" i="0" u="none" strike="noStrike" kern="1200" baseline="0" dirty="0">
                            <a:solidFill>
                              <a:schemeClr val="tx2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39134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5">
                <a:extLst>
                  <a:ext uri="{FF2B5EF4-FFF2-40B4-BE49-F238E27FC236}">
                    <a16:creationId xmlns:a16="http://schemas.microsoft.com/office/drawing/2014/main" id="{96DD811B-6A1D-4FFD-91AD-CAA0472754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0459058"/>
                  </p:ext>
                </p:extLst>
              </p:nvPr>
            </p:nvGraphicFramePr>
            <p:xfrm>
              <a:off x="479121" y="1698862"/>
              <a:ext cx="9915526" cy="350178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828801">
                      <a:extLst>
                        <a:ext uri="{9D8B030D-6E8A-4147-A177-3AD203B41FA5}">
                          <a16:colId xmlns:a16="http://schemas.microsoft.com/office/drawing/2014/main" val="3009468781"/>
                        </a:ext>
                      </a:extLst>
                    </a:gridCol>
                    <a:gridCol w="8086725">
                      <a:extLst>
                        <a:ext uri="{9D8B030D-6E8A-4147-A177-3AD203B41FA5}">
                          <a16:colId xmlns:a16="http://schemas.microsoft.com/office/drawing/2014/main" val="2379197859"/>
                        </a:ext>
                      </a:extLst>
                    </a:gridCol>
                  </a:tblGrid>
                  <a:tr h="3501785">
                    <a:tc>
                      <a:txBody>
                        <a:bodyPr/>
                        <a:lstStyle/>
                        <a:p>
                          <a:r>
                            <a:rPr lang="en-IN" sz="2800" b="1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Example</a:t>
                          </a:r>
                          <a:endParaRPr lang="en-US" sz="2800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666" t="-1736" r="-151" b="-3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391341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07C0487D-E6DF-473A-ADF1-991E44FBC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862" y="2237960"/>
            <a:ext cx="2867425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58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9827126" cy="2769152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rgbClr val="00A6B9"/>
                    </a:solidFill>
                  </a:rPr>
                  <a:t>Think About It!</a:t>
                </a:r>
              </a:p>
              <a:p>
                <a:r>
                  <a:rPr lang="en-US" sz="2800" dirty="0"/>
                  <a:t>What is the relationship between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? How does this relate to the scale factor?</a:t>
                </a:r>
                <a:endParaRPr lang="en-IN" sz="2800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9827126" cy="2769152"/>
              </a:xfrm>
              <a:prstGeom prst="rect">
                <a:avLst/>
              </a:prstGeom>
              <a:blipFill>
                <a:blip r:embed="rId2"/>
                <a:stretch>
                  <a:fillRect l="-1240" t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Learn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Dilations on the Coordinate Plane</a:t>
            </a:r>
            <a:endParaRPr lang="en-US" sz="2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74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3" y="1707844"/>
                <a:ext cx="9954127" cy="234028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𝑻𝑹𝑺</m:t>
                    </m:r>
                  </m:oMath>
                </a14:m>
                <a:r>
                  <a:rPr lang="en-IN" sz="2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has vertices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. Find the coordinates of the vertices of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 after a dilation of </a:t>
                </a:r>
                <a14:m>
                  <m:oMath xmlns:m="http://schemas.openxmlformats.org/officeDocument/2006/math">
                    <m:r>
                      <a:rPr lang="en-I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𝑻𝑹𝑺</m:t>
                    </m:r>
                    <m:r>
                      <a:rPr lang="en-IN" sz="28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by a scale factor of</a:t>
                </a:r>
                <a:r>
                  <a:rPr lang="en-US" sz="2800" b="1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3" y="1707844"/>
                <a:ext cx="9954127" cy="2340281"/>
              </a:xfrm>
              <a:prstGeom prst="rect">
                <a:avLst/>
              </a:prstGeom>
              <a:blipFill>
                <a:blip r:embed="rId2"/>
                <a:stretch>
                  <a:fillRect l="-1225" t="-2604" r="-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Example 3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Dilate a Figure</a:t>
            </a:r>
            <a:endParaRPr lang="en-US" sz="2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41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9827126" cy="2292655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dirty="0">
                    <a:solidFill>
                      <a:schemeClr val="tx2"/>
                    </a:solidFill>
                  </a:rPr>
                  <a:t>Because the scale factor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800" dirty="0">
                    <a:solidFill>
                      <a:schemeClr val="tx2"/>
                    </a:solidFill>
                  </a:rPr>
                  <a:t>, the coordinates of the vertices of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80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80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8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2800" b="1" dirty="0">
                    <a:solidFill>
                      <a:schemeClr val="tx2"/>
                    </a:solidFill>
                  </a:rPr>
                  <a:t> </a:t>
                </a:r>
                <a:r>
                  <a:rPr lang="en-IN" sz="2800" dirty="0">
                    <a:solidFill>
                      <a:schemeClr val="tx2"/>
                    </a:solidFill>
                  </a:rPr>
                  <a:t>should be half of the value of the coordinates of the vertices of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𝑇𝑅𝑆</m:t>
                    </m:r>
                  </m:oMath>
                </a14:m>
                <a:r>
                  <a:rPr lang="en-IN" sz="2800" dirty="0">
                    <a:solidFill>
                      <a:schemeClr val="tx2"/>
                    </a:solidFill>
                  </a:rPr>
                  <a:t>. </a:t>
                </a:r>
              </a:p>
              <a:p>
                <a:r>
                  <a:rPr lang="en-US" sz="2800" dirty="0">
                    <a:solidFill>
                      <a:schemeClr val="tx2"/>
                    </a:solidFill>
                  </a:rPr>
                  <a:t>Complete the calculations for the dilation when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9827126" cy="2292655"/>
              </a:xfrm>
              <a:prstGeom prst="rect">
                <a:avLst/>
              </a:prstGeom>
              <a:blipFill>
                <a:blip r:embed="rId2"/>
                <a:stretch>
                  <a:fillRect l="-1240" r="-310" b="-3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Example 3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Dilate a Figure</a:t>
            </a:r>
            <a:endParaRPr lang="en-US" sz="28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59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4" y="1707845"/>
            <a:ext cx="9827126" cy="229265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800">
              <a:solidFill>
                <a:schemeClr val="tx2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3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IN" sz="2800" b="0" dirty="0">
                <a:solidFill>
                  <a:schemeClr val="tx1"/>
                </a:solidFill>
              </a:rPr>
              <a:t>Dilate a Figure</a:t>
            </a:r>
            <a:endParaRPr lang="en-US" sz="2800" b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385727"/>
                  </p:ext>
                </p:extLst>
              </p:nvPr>
            </p:nvGraphicFramePr>
            <p:xfrm>
              <a:off x="459873" y="1707845"/>
              <a:ext cx="10093432" cy="353206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013274025"/>
                        </a:ext>
                      </a:extLst>
                    </a:gridCol>
                    <a:gridCol w="748145">
                      <a:extLst>
                        <a:ext uri="{9D8B030D-6E8A-4147-A177-3AD203B41FA5}">
                          <a16:colId xmlns:a16="http://schemas.microsoft.com/office/drawing/2014/main" val="554819849"/>
                        </a:ext>
                      </a:extLst>
                    </a:gridCol>
                    <a:gridCol w="7425047">
                      <a:extLst>
                        <a:ext uri="{9D8B030D-6E8A-4147-A177-3AD203B41FA5}">
                          <a16:colId xmlns:a16="http://schemas.microsoft.com/office/drawing/2014/main" val="2392386892"/>
                        </a:ext>
                      </a:extLst>
                    </a:gridCol>
                  </a:tblGrid>
                  <a:tr h="76814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00A6B9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800" dirty="0">
                            <a:solidFill>
                              <a:srgbClr val="00A6B9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𝑘𝑥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 </m:t>
                                </m:r>
                                <m:r>
                                  <a:rPr lang="en-IN" sz="2800" b="0" i="1" u="none" strike="noStrike" kern="1200" baseline="0" dirty="0" smtClean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𝑘𝑦</m:t>
                                </m:r>
                                <m:r>
                                  <a:rPr lang="en-IN" sz="2800" b="0" i="1" u="none" strike="noStrike" kern="1200" baseline="0" dirty="0">
                                    <a:solidFill>
                                      <a:srgbClr val="179E4E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800" dirty="0">
                            <a:solidFill>
                              <a:srgbClr val="179E4E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24230"/>
                      </a:ext>
                    </a:extLst>
                  </a:tr>
                  <a:tr h="946357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(−4,−</m:t>
                              </m:r>
                              <m:r>
                                <a:rPr lang="en-IN" sz="2800" b="0" i="1" u="none" strike="noStrike" kern="1200" baseline="0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5)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 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−4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US" sz="2800" b="0" i="0" dirty="0">
                              <a:solidFill>
                                <a:schemeClr val="tx2"/>
                              </a:solidFill>
                              <a:latin typeface="+mj-lt"/>
                            </a:rPr>
                            <a:t> or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′(−2, −2.5)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717441"/>
                      </a:ext>
                    </a:extLst>
                  </a:tr>
                  <a:tr h="97155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𝑅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(0,6</m:t>
                              </m:r>
                              <m:r>
                                <a:rPr lang="en-IN" sz="2800" b="0" i="1" u="none" strike="noStrike" kern="1200" baseline="0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or</a:t>
                          </a:r>
                          <a:r>
                            <a:rPr lang="en-IN" sz="2800" baseline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baseline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800" b="0" i="1" baseline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sz="28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0, 3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3569060"/>
                      </a:ext>
                    </a:extLst>
                  </a:tr>
                  <a:tr h="711505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(4,</m:t>
                              </m:r>
                              <m:r>
                                <a:rPr lang="en-US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  <m:r>
                                <a:rPr lang="en-IN" sz="2800" b="0" i="1" u="none" strike="noStrike" kern="1200" baseline="0" dirty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  <m:r>
                                    <a:rPr lang="en-US" sz="28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,  </m:t>
                                  </m:r>
                                  <m:f>
                                    <m:f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or</a:t>
                          </a:r>
                          <a:r>
                            <a:rPr lang="en-IN" sz="2800" baseline="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baseline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sz="2800" b="0" i="1" baseline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d>
                                <m:dPr>
                                  <m:ctrlPr>
                                    <a:rPr lang="en-US" sz="28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baseline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2, 1.5</m:t>
                                  </m:r>
                                </m:e>
                              </m:d>
                            </m:oMath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83090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385727"/>
                  </p:ext>
                </p:extLst>
              </p:nvPr>
            </p:nvGraphicFramePr>
            <p:xfrm>
              <a:off x="459873" y="1707845"/>
              <a:ext cx="10093432" cy="353206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20240">
                      <a:extLst>
                        <a:ext uri="{9D8B030D-6E8A-4147-A177-3AD203B41FA5}">
                          <a16:colId xmlns:a16="http://schemas.microsoft.com/office/drawing/2014/main" val="1013274025"/>
                        </a:ext>
                      </a:extLst>
                    </a:gridCol>
                    <a:gridCol w="748145">
                      <a:extLst>
                        <a:ext uri="{9D8B030D-6E8A-4147-A177-3AD203B41FA5}">
                          <a16:colId xmlns:a16="http://schemas.microsoft.com/office/drawing/2014/main" val="554819849"/>
                        </a:ext>
                      </a:extLst>
                    </a:gridCol>
                    <a:gridCol w="7425047">
                      <a:extLst>
                        <a:ext uri="{9D8B030D-6E8A-4147-A177-3AD203B41FA5}">
                          <a16:colId xmlns:a16="http://schemas.microsoft.com/office/drawing/2014/main" val="2392386892"/>
                        </a:ext>
                      </a:extLst>
                    </a:gridCol>
                  </a:tblGrid>
                  <a:tr h="7681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426032" b="-36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931" b="-36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8024230"/>
                      </a:ext>
                    </a:extLst>
                  </a:tr>
                  <a:tr h="9463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80769" r="-426032" b="-19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931" t="-80769" b="-19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717441"/>
                      </a:ext>
                    </a:extLst>
                  </a:tr>
                  <a:tr h="9715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77358" r="-426032" b="-880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931" t="-177358" b="-880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3569060"/>
                      </a:ext>
                    </a:extLst>
                  </a:tr>
                  <a:tr h="8460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17266" r="-426032" b="-7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IN" sz="2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Arial" panose="020B0604020202020204"/>
                              <a:ea typeface="+mn-ea"/>
                              <a:cs typeface="+mn-cs"/>
                            </a:rPr>
                            <a:t>⟶</a:t>
                          </a:r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5931" t="-317266" b="-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83090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9973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Example 3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Dilate a Figure</a:t>
            </a:r>
            <a:endParaRPr lang="en-US" sz="2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235434-0BDB-4345-AA67-F1168D91D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6"/>
                <a:ext cx="9093701" cy="293082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sz="2800" b="1" dirty="0">
                    <a:solidFill>
                      <a:schemeClr val="tx1"/>
                    </a:solidFill>
                  </a:rPr>
                  <a:t>Check</a:t>
                </a:r>
                <a:r>
                  <a:rPr lang="en-IN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𝑋𝑌𝑍</m:t>
                    </m:r>
                  </m:oMath>
                </a14:m>
                <a:r>
                  <a:rPr lang="en-US" sz="2800" dirty="0"/>
                  <a:t> has vertices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(3, −4)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(6, 5)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(8, −2)</m:t>
                    </m:r>
                  </m:oMath>
                </a14:m>
                <a:r>
                  <a:rPr lang="en-US" sz="2800" dirty="0"/>
                  <a:t>. Find the coordinates of the vertices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after a dilation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𝑋𝑌𝑍</m:t>
                    </m:r>
                  </m:oMath>
                </a14:m>
                <a:r>
                  <a:rPr lang="en-US" sz="2800" dirty="0"/>
                  <a:t> by a scale factor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</m:t>
                    </m:r>
                  </m:oMath>
                </a14:m>
                <a:r>
                  <a:rPr lang="en-US" sz="2800" i="0" dirty="0">
                    <a:latin typeface="+mj-lt"/>
                  </a:rPr>
                  <a:t> </a:t>
                </a:r>
                <a:r>
                  <a:rPr lang="en-US" sz="2800" dirty="0">
                    <a:solidFill>
                      <a:srgbClr val="FF0000"/>
                    </a:solidFill>
                    <a:latin typeface="+mj-lt"/>
                  </a:rPr>
                  <a:t>    </a:t>
                </a:r>
                <a:r>
                  <a:rPr lang="en-US" sz="2800" i="0" dirty="0">
                    <a:latin typeface="+mj-lt"/>
                  </a:rPr>
                  <a:t>,   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+mj-lt"/>
                  </a:rPr>
                  <a:t>   </a:t>
                </a:r>
                <a:r>
                  <a:rPr lang="en-US" sz="2800" i="0" dirty="0">
                    <a:latin typeface="+mj-lt"/>
                  </a:rPr>
                  <a:t>, </a:t>
                </a:r>
                <a:r>
                  <a:rPr lang="en-US" sz="2800" dirty="0">
                    <a:solidFill>
                      <a:srgbClr val="FF0000"/>
                    </a:solidFill>
                    <a:latin typeface="+mj-lt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+mj-lt"/>
                  </a:rPr>
                  <a:t>   </a:t>
                </a:r>
                <a:r>
                  <a:rPr lang="en-US" sz="2800" i="0" dirty="0">
                    <a:latin typeface="+mj-lt"/>
                  </a:rPr>
                  <a:t>, 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235434-0BDB-4345-AA67-F1168D91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6"/>
                <a:ext cx="9093701" cy="2930829"/>
              </a:xfrm>
              <a:prstGeom prst="rect">
                <a:avLst/>
              </a:prstGeom>
              <a:blipFill>
                <a:blip r:embed="rId3"/>
                <a:stretch>
                  <a:fillRect l="-1340" t="-2079" r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87219D-A8E8-2145-0513-30312FCAD45F}"/>
              </a:ext>
            </a:extLst>
          </p:cNvPr>
          <p:cNvCxnSpPr/>
          <p:nvPr/>
        </p:nvCxnSpPr>
        <p:spPr>
          <a:xfrm>
            <a:off x="1047750" y="4371975"/>
            <a:ext cx="4191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5560BC-83EF-BAAA-8CCB-5BBAA3EF7254}"/>
              </a:ext>
            </a:extLst>
          </p:cNvPr>
          <p:cNvCxnSpPr>
            <a:cxnSpLocks/>
          </p:cNvCxnSpPr>
          <p:nvPr/>
        </p:nvCxnSpPr>
        <p:spPr>
          <a:xfrm>
            <a:off x="1657350" y="4371975"/>
            <a:ext cx="69532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DB7B60-4FC3-CB8B-0649-8353224D44AA}"/>
              </a:ext>
            </a:extLst>
          </p:cNvPr>
          <p:cNvCxnSpPr>
            <a:cxnSpLocks/>
          </p:cNvCxnSpPr>
          <p:nvPr/>
        </p:nvCxnSpPr>
        <p:spPr>
          <a:xfrm>
            <a:off x="3133725" y="4371975"/>
            <a:ext cx="2667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805AC2-EDAF-B886-0625-C45A66EF221F}"/>
              </a:ext>
            </a:extLst>
          </p:cNvPr>
          <p:cNvCxnSpPr/>
          <p:nvPr/>
        </p:nvCxnSpPr>
        <p:spPr>
          <a:xfrm>
            <a:off x="3524250" y="4371975"/>
            <a:ext cx="4191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AEE840-AABA-F97F-0E56-DB9D8DCBDB15}"/>
              </a:ext>
            </a:extLst>
          </p:cNvPr>
          <p:cNvCxnSpPr>
            <a:cxnSpLocks/>
          </p:cNvCxnSpPr>
          <p:nvPr/>
        </p:nvCxnSpPr>
        <p:spPr>
          <a:xfrm>
            <a:off x="4695825" y="4371975"/>
            <a:ext cx="2667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766BEE-1CD6-AFA4-AD72-DDCCC5206F63}"/>
              </a:ext>
            </a:extLst>
          </p:cNvPr>
          <p:cNvCxnSpPr/>
          <p:nvPr/>
        </p:nvCxnSpPr>
        <p:spPr>
          <a:xfrm>
            <a:off x="5086350" y="4371975"/>
            <a:ext cx="4191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4081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>
                <a:solidFill>
                  <a:srgbClr val="0070C0"/>
                </a:solidFill>
              </a:rPr>
              <a:t>Example 3</a:t>
            </a:r>
            <a:br>
              <a:rPr lang="en-US" sz="2800">
                <a:solidFill>
                  <a:srgbClr val="0070C0"/>
                </a:solidFill>
              </a:rPr>
            </a:br>
            <a:r>
              <a:rPr lang="en-IN" sz="2800" b="0">
                <a:solidFill>
                  <a:schemeClr val="tx1"/>
                </a:solidFill>
              </a:rPr>
              <a:t>Dilate a Figure</a:t>
            </a:r>
            <a:endParaRPr lang="en-US" sz="2800" b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235434-0BDB-4345-AA67-F1168D91D1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6"/>
                <a:ext cx="9093701" cy="293082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sz="2800" b="1" dirty="0">
                    <a:solidFill>
                      <a:schemeClr val="tx1"/>
                    </a:solidFill>
                  </a:rPr>
                  <a:t>Check</a:t>
                </a:r>
                <a:r>
                  <a:rPr lang="en-IN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𝑋𝑌𝑍</m:t>
                    </m:r>
                  </m:oMath>
                </a14:m>
                <a:r>
                  <a:rPr lang="en-US" sz="2800" dirty="0"/>
                  <a:t> has vertices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(3, −4)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(6, 5)</m:t>
                    </m:r>
                  </m:oMath>
                </a14:m>
                <a:r>
                  <a:rPr lang="en-US" sz="2800" dirty="0"/>
                  <a:t>,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(8, −2)</m:t>
                    </m:r>
                  </m:oMath>
                </a14:m>
                <a:r>
                  <a:rPr lang="en-US" sz="2800" dirty="0"/>
                  <a:t>. Find the coordinates of the vertices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after a dilation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𝑋𝑌𝑍</m:t>
                    </m:r>
                  </m:oMath>
                </a14:m>
                <a:r>
                  <a:rPr lang="en-US" sz="2800" dirty="0"/>
                  <a:t> by a scale factor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′( 12, −16)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′(24, 20)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′(32, −8)</m:t>
                    </m:r>
                  </m:oMath>
                </a14:m>
                <a:endParaRPr lang="en-IN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7235434-0BDB-4345-AA67-F1168D91D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6"/>
                <a:ext cx="9093701" cy="2930829"/>
              </a:xfrm>
              <a:prstGeom prst="rect">
                <a:avLst/>
              </a:prstGeom>
              <a:blipFill>
                <a:blip r:embed="rId3"/>
                <a:stretch>
                  <a:fillRect l="-1340" t="-2079" r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929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7686599" cy="1721155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2800" b="1" dirty="0">
                    <a:solidFill>
                      <a:schemeClr val="tx1"/>
                    </a:solidFill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IN" sz="28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after a dilation.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Find the scale factor of the dilation.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7686599" cy="1721155"/>
              </a:xfrm>
              <a:prstGeom prst="rect">
                <a:avLst/>
              </a:prstGeom>
              <a:blipFill>
                <a:blip r:embed="rId3"/>
                <a:stretch>
                  <a:fillRect l="-1586" t="-3534" r="-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03C4C-D2C1-4346-83EA-9ABED21B7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82" y="1707845"/>
            <a:ext cx="2719593" cy="27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0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7686599" cy="2579147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800" dirty="0"/>
                  <a:t>To find the scale factor of the dilation, you must compare the lengths of corresponding sides in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𝐴𝐵𝐶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. 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7686599" cy="2579147"/>
              </a:xfrm>
              <a:prstGeom prst="rect">
                <a:avLst/>
              </a:prstGeom>
              <a:blipFill>
                <a:blip r:embed="rId3"/>
                <a:stretch>
                  <a:fillRect l="-1586" t="-2364" r="-1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75EF7-C66C-4732-B162-4BB6ED400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82" y="1707845"/>
            <a:ext cx="2719593" cy="27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6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7690104" cy="3398545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431925" indent="-1431925"/>
                <a:r>
                  <a:rPr lang="en-IN" sz="2800" b="1" dirty="0">
                    <a:solidFill>
                      <a:schemeClr val="tx1"/>
                    </a:solidFill>
                  </a:rPr>
                  <a:t>Step 1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 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Identify two corresponding sides and their endpoints. </a:t>
                </a:r>
                <a:endParaRPr lang="en-IN" sz="2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IN" sz="2800" dirty="0"/>
                  <a:t> are corresponding sides. The endpoints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i="1" dirty="0"/>
                  <a:t> </a:t>
                </a:r>
                <a:r>
                  <a:rPr lang="en-IN" sz="2800" dirty="0"/>
                  <a:t>are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(−3, 0)</m:t>
                    </m:r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(0, 2)</m:t>
                    </m:r>
                  </m:oMath>
                </a14:m>
                <a:r>
                  <a:rPr lang="en-IN" sz="2800" dirty="0"/>
                  <a:t>. The endpoints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r>
                  <a:rPr lang="en-IN" sz="2800" dirty="0"/>
                  <a:t> are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′(−9, 0)</m:t>
                    </m:r>
                  </m:oMath>
                </a14:m>
                <a:r>
                  <a:rPr lang="en-IN" sz="2800" dirty="0"/>
                  <a:t> 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′(0, 6)</m:t>
                    </m:r>
                  </m:oMath>
                </a14:m>
                <a:r>
                  <a:rPr lang="en-IN" sz="2800" dirty="0"/>
                  <a:t>. 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7690104" cy="3398545"/>
              </a:xfrm>
              <a:prstGeom prst="rect">
                <a:avLst/>
              </a:prstGeom>
              <a:blipFill>
                <a:blip r:embed="rId3"/>
                <a:stretch>
                  <a:fillRect l="-1585" t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C7DA7C-3ED9-477D-ACF6-2A44B489C2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82" y="1707845"/>
            <a:ext cx="2719593" cy="27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70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6"/>
                <a:ext cx="9206640" cy="1130358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Step 2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 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Find the lengths of the corresponding sides. </a:t>
                </a:r>
                <a:endParaRPr lang="en-IN" sz="2800" dirty="0">
                  <a:solidFill>
                    <a:schemeClr val="tx1"/>
                  </a:solidFill>
                </a:endParaRPr>
              </a:p>
              <a:p>
                <a:r>
                  <a:rPr lang="en-IN" sz="2800" dirty="0"/>
                  <a:t>Use the Distance Formula to find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sz="2800" i="1" dirty="0"/>
                  <a:t> </a:t>
                </a:r>
                <a:r>
                  <a:rPr lang="en-IN" sz="2800" dirty="0"/>
                  <a:t>and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2800" dirty="0"/>
                  <a:t>. </a:t>
                </a:r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6"/>
                <a:ext cx="9206640" cy="1130358"/>
              </a:xfrm>
              <a:prstGeom prst="rect">
                <a:avLst/>
              </a:prstGeom>
              <a:blipFill>
                <a:blip r:embed="rId3"/>
                <a:stretch>
                  <a:fillRect l="-1324" t="-5376" r="-1522" b="-11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7882935"/>
                  </p:ext>
                </p:extLst>
              </p:nvPr>
            </p:nvGraphicFramePr>
            <p:xfrm>
              <a:off x="459871" y="2945082"/>
              <a:ext cx="11122528" cy="298564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9494">
                      <a:extLst>
                        <a:ext uri="{9D8B030D-6E8A-4147-A177-3AD203B41FA5}">
                          <a16:colId xmlns:a16="http://schemas.microsoft.com/office/drawing/2014/main" val="3161937311"/>
                        </a:ext>
                      </a:extLst>
                    </a:gridCol>
                    <a:gridCol w="4795180">
                      <a:extLst>
                        <a:ext uri="{9D8B030D-6E8A-4147-A177-3AD203B41FA5}">
                          <a16:colId xmlns:a16="http://schemas.microsoft.com/office/drawing/2014/main" val="3843600161"/>
                        </a:ext>
                      </a:extLst>
                    </a:gridCol>
                    <a:gridCol w="807523">
                      <a:extLst>
                        <a:ext uri="{9D8B030D-6E8A-4147-A177-3AD203B41FA5}">
                          <a16:colId xmlns:a16="http://schemas.microsoft.com/office/drawing/2014/main" val="1214904766"/>
                        </a:ext>
                      </a:extLst>
                    </a:gridCol>
                    <a:gridCol w="4540331">
                      <a:extLst>
                        <a:ext uri="{9D8B030D-6E8A-4147-A177-3AD203B41FA5}">
                          <a16:colId xmlns:a16="http://schemas.microsoft.com/office/drawing/2014/main" val="146764615"/>
                        </a:ext>
                      </a:extLst>
                    </a:gridCol>
                  </a:tblGrid>
                  <a:tr h="731520"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(−3, 0)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(0, 2)</m:t>
                              </m:r>
                            </m:oMath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′(−9, 0)</m:t>
                              </m:r>
                            </m:oMath>
                          </a14:m>
                          <a:r>
                            <a:rPr lang="en-IN" sz="2800" b="0" i="0" u="none" strike="noStrike" kern="1200" baseline="0" dirty="0">
                              <a:solidFill>
                                <a:schemeClr val="tx2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′(0, 6)</m:t>
                              </m:r>
                            </m:oMath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560341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𝐴𝐵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chemeClr val="tx2"/>
                              </a:solidFill>
                            </a:rPr>
                            <a:t> </a:t>
                          </a: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[0−(−3)]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(2−0)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𝐴</m:t>
                              </m:r>
                              <m:r>
                                <a:rPr lang="en-IN" sz="2800" b="0" i="1" u="none" strike="noStrike" kern="1200" baseline="0" dirty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  <m:r>
                                <a:rPr lang="en-IN" sz="2800" b="0" i="1" u="none" strike="noStrike" kern="1200" baseline="0" dirty="0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  <m:r>
                                <a:rPr lang="en-IN" sz="2800" b="0" i="1" u="none" strike="noStrike" kern="1200" baseline="0" dirty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′</m:t>
                              </m:r>
                            </m:oMath>
                          </a14:m>
                          <a:r>
                            <a:rPr lang="en-IN" sz="2800" dirty="0">
                              <a:solidFill>
                                <a:srgbClr val="179E4E"/>
                              </a:solidFill>
                            </a:rPr>
                            <a:t> </a:t>
                          </a:r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[0−(−9)]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+ 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(6−0)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244432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e>
                                      <m:sup>
                                        <m:r>
                                          <a:rPr lang="en-US" sz="2800" b="0" i="1" smtClean="0">
                                            <a:solidFill>
                                              <a:schemeClr val="tx2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oMath>
                            </m:oMathPara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2560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8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8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IN" sz="2800" dirty="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30497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7882935"/>
                  </p:ext>
                </p:extLst>
              </p:nvPr>
            </p:nvGraphicFramePr>
            <p:xfrm>
              <a:off x="459871" y="2945082"/>
              <a:ext cx="11122528" cy="298564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9494">
                      <a:extLst>
                        <a:ext uri="{9D8B030D-6E8A-4147-A177-3AD203B41FA5}">
                          <a16:colId xmlns:a16="http://schemas.microsoft.com/office/drawing/2014/main" val="3161937311"/>
                        </a:ext>
                      </a:extLst>
                    </a:gridCol>
                    <a:gridCol w="4795180">
                      <a:extLst>
                        <a:ext uri="{9D8B030D-6E8A-4147-A177-3AD203B41FA5}">
                          <a16:colId xmlns:a16="http://schemas.microsoft.com/office/drawing/2014/main" val="3843600161"/>
                        </a:ext>
                      </a:extLst>
                    </a:gridCol>
                    <a:gridCol w="807523">
                      <a:extLst>
                        <a:ext uri="{9D8B030D-6E8A-4147-A177-3AD203B41FA5}">
                          <a16:colId xmlns:a16="http://schemas.microsoft.com/office/drawing/2014/main" val="1214904766"/>
                        </a:ext>
                      </a:extLst>
                    </a:gridCol>
                    <a:gridCol w="4540331">
                      <a:extLst>
                        <a:ext uri="{9D8B030D-6E8A-4147-A177-3AD203B41FA5}">
                          <a16:colId xmlns:a16="http://schemas.microsoft.com/office/drawing/2014/main" val="146764615"/>
                        </a:ext>
                      </a:extLst>
                    </a:gridCol>
                  </a:tblGrid>
                  <a:tr h="73152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8333" r="-92511" b="-30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8096" t="-8333" b="-30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I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5603410"/>
                      </a:ext>
                    </a:extLst>
                  </a:tr>
                  <a:tr h="6082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30000" r="-1033540" b="-2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7" t="-130000" r="-111436" b="-2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b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18182" t="-130000" r="-564394" b="-27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66" t="-130000" b="-27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244432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7" t="-170370" r="-11143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66" t="-17037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2560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457" t="-270370" r="-1114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N" sz="2800">
                            <a:solidFill>
                              <a:schemeClr val="tx2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4966" t="-270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04972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8520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07845"/>
                <a:ext cx="9206640" cy="4597951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Step 3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 </a:t>
                </a:r>
                <a:r>
                  <a:rPr lang="en-IN" sz="2800" b="1" dirty="0">
                    <a:solidFill>
                      <a:schemeClr val="tx1"/>
                    </a:solidFill>
                  </a:rPr>
                  <a:t>Calculate the scale factor.</a:t>
                </a:r>
                <a:endParaRPr lang="en-IN" sz="2800" dirty="0">
                  <a:solidFill>
                    <a:schemeClr val="tx1"/>
                  </a:solidFill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IN" sz="2800" dirty="0">
                    <a:solidFill>
                      <a:schemeClr val="tx2"/>
                    </a:solidFill>
                  </a:rPr>
                  <a:t>To find the scale factor, find the ratio of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800" i="1" dirty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8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IN" sz="2800" i="1" dirty="0">
                    <a:solidFill>
                      <a:schemeClr val="tx2"/>
                    </a:solidFill>
                  </a:rPr>
                  <a:t> </a:t>
                </a:r>
                <a:r>
                  <a:rPr lang="en-IN" sz="2800" dirty="0">
                    <a:solidFill>
                      <a:schemeClr val="tx2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sz="2800" dirty="0">
                    <a:solidFill>
                      <a:schemeClr val="tx2"/>
                    </a:solidFill>
                  </a:rPr>
                  <a:t>. 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A6B9"/>
                        </a:solidFill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2800" b="0" i="1" smtClean="0">
                        <a:solidFill>
                          <a:srgbClr val="00A6B9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solidFill>
                              <a:srgbClr val="00A6B9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solidFill>
                              <a:srgbClr val="00A6B9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>
                    <a:solidFill>
                      <a:schemeClr val="tx2"/>
                    </a:solidFill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179E4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179E4E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179E4E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solidFill>
                          <a:srgbClr val="179E4E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solidFill>
                          <a:srgbClr val="179E4E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rad>
                      <m:radPr>
                        <m:degHide m:val="on"/>
                        <m:ctrlPr>
                          <a:rPr lang="en-US" sz="2800" b="0" i="1" smtClean="0">
                            <a:solidFill>
                              <a:srgbClr val="179E4E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800" b="0" i="1" smtClean="0">
                            <a:solidFill>
                              <a:srgbClr val="179E4E"/>
                            </a:solidFill>
                            <a:latin typeface="Cambria Math" panose="02040503050406030204" pitchFamily="18" charset="0"/>
                          </a:rPr>
                          <m:t>117</m:t>
                        </m:r>
                      </m:e>
                    </m:rad>
                  </m:oMath>
                </a14:m>
                <a:endParaRPr lang="en-US" sz="2800" b="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179E4E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rgbClr val="179E4E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 b="0" i="1" smtClean="0">
                              <a:solidFill>
                                <a:srgbClr val="179E4E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 smtClean="0">
                              <a:solidFill>
                                <a:srgbClr val="179E4E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A6B9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solidFill>
                                    <a:srgbClr val="179E4E"/>
                                  </a:solidFill>
                                  <a:latin typeface="Cambria Math" panose="02040503050406030204" pitchFamily="18" charset="0"/>
                                </a:rPr>
                                <m:t>117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smtClean="0">
                                  <a:solidFill>
                                    <a:srgbClr val="00A6B9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e>
                          </m:rad>
                        </m:den>
                      </m:f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117</m:t>
                              </m:r>
                            </m:num>
                            <m:den>
                              <m:r>
                                <a:rPr lang="en-US" sz="28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den>
                          </m:f>
                        </m:e>
                      </m:rad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sz="2800" dirty="0">
                  <a:solidFill>
                    <a:schemeClr val="tx2"/>
                  </a:solidFill>
                </a:endParaRPr>
              </a:p>
              <a:p>
                <a:r>
                  <a:rPr lang="en-IN" sz="2800" dirty="0">
                    <a:solidFill>
                      <a:schemeClr val="tx2"/>
                    </a:solidFill>
                  </a:rPr>
                  <a:t>So, the scale factor of the dilation is 3.</a:t>
                </a:r>
                <a:endParaRPr 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07845"/>
                <a:ext cx="9206640" cy="4597951"/>
              </a:xfrm>
              <a:prstGeom prst="rect">
                <a:avLst/>
              </a:prstGeom>
              <a:blipFill>
                <a:blip r:embed="rId3"/>
                <a:stretch>
                  <a:fillRect l="-1324" t="-1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</p:spTree>
    <p:extLst>
      <p:ext uri="{BB962C8B-B14F-4D97-AF65-F5344CB8AC3E}">
        <p14:creationId xmlns:p14="http://schemas.microsoft.com/office/powerpoint/2010/main" val="155689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14501"/>
                <a:ext cx="8137861" cy="2285999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Check</a:t>
                </a:r>
                <a:endParaRPr lang="en-IN" sz="2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is the image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𝐷𝐸𝐹</m:t>
                    </m:r>
                  </m:oMath>
                </a14:m>
                <a:r>
                  <a:rPr lang="en-US" sz="2800" dirty="0"/>
                  <a:t> after a dilation. Find the scale factor of the dilation.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endParaRPr lang="en-US" sz="28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14501"/>
                <a:ext cx="8137861" cy="2285999"/>
              </a:xfrm>
              <a:prstGeom prst="rect">
                <a:avLst/>
              </a:prstGeom>
              <a:blipFill>
                <a:blip r:embed="rId3"/>
                <a:stretch>
                  <a:fillRect l="-1498" t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601D4-1B2B-4224-8F0D-8335DD038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735" y="2781104"/>
            <a:ext cx="2867425" cy="281979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912491-5B77-69BB-5A8D-BBCFA4884226}"/>
              </a:ext>
            </a:extLst>
          </p:cNvPr>
          <p:cNvCxnSpPr/>
          <p:nvPr/>
        </p:nvCxnSpPr>
        <p:spPr>
          <a:xfrm>
            <a:off x="1285875" y="4010025"/>
            <a:ext cx="4191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971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9874" y="1714501"/>
                <a:ext cx="8137861" cy="2466974"/>
              </a:xfrm>
              <a:prstGeom prst="rect">
                <a:avLst/>
              </a:prstGeom>
            </p:spPr>
            <p:txBody>
              <a:bodyPr/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230188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460375" indent="-22860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455613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685800" indent="0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800" b="1" dirty="0">
                    <a:solidFill>
                      <a:schemeClr val="tx1"/>
                    </a:solidFill>
                  </a:rPr>
                  <a:t>Check</a:t>
                </a:r>
                <a:endParaRPr lang="en-IN" sz="28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is the image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△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𝐷𝐸𝐹</m:t>
                    </m:r>
                  </m:oMath>
                </a14:m>
                <a:r>
                  <a:rPr lang="en-US" sz="2800" dirty="0"/>
                  <a:t> after a dilation. Find the scale factor of the dilation.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3F3EB91-17DF-D044-83E2-63ED6DCD3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874" y="1714501"/>
                <a:ext cx="8137861" cy="2466974"/>
              </a:xfrm>
              <a:prstGeom prst="rect">
                <a:avLst/>
              </a:prstGeom>
              <a:blipFill>
                <a:blip r:embed="rId3"/>
                <a:stretch>
                  <a:fillRect l="-1498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1191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Example 4</a:t>
            </a:r>
            <a:br>
              <a:rPr lang="en-US" sz="2800" dirty="0">
                <a:solidFill>
                  <a:srgbClr val="0070C0"/>
                </a:solidFill>
              </a:rPr>
            </a:br>
            <a:r>
              <a:rPr lang="en-US" sz="2800" b="0" dirty="0">
                <a:solidFill>
                  <a:schemeClr val="tx1"/>
                </a:solidFill>
              </a:rPr>
              <a:t>Find the Scale Factor of a Dilation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7601D4-1B2B-4224-8F0D-8335DD038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735" y="2781104"/>
            <a:ext cx="286742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744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FB17E4-EBFE-2818-3469-B5F725113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79" y="193617"/>
            <a:ext cx="3330575" cy="126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556DF3-762A-6CEA-EF58-DE96FF27D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586" y="188736"/>
            <a:ext cx="3436681" cy="126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FE80A6-35D4-0065-8E1A-82C816E51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97" y="328436"/>
            <a:ext cx="3224530" cy="98171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E755BE-678D-60AA-620F-7F97E44DCC1C}"/>
              </a:ext>
            </a:extLst>
          </p:cNvPr>
          <p:cNvSpPr txBox="1"/>
          <p:nvPr/>
        </p:nvSpPr>
        <p:spPr>
          <a:xfrm>
            <a:off x="211115" y="2090402"/>
            <a:ext cx="3491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A5CD82-4BE6-7D43-0EC7-48FA143D2F37}"/>
              </a:ext>
            </a:extLst>
          </p:cNvPr>
          <p:cNvSpPr txBox="1"/>
          <p:nvPr/>
        </p:nvSpPr>
        <p:spPr>
          <a:xfrm>
            <a:off x="3873565" y="1867500"/>
            <a:ext cx="34917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N" sz="14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DCDDED-3C85-7C01-6B76-F79ABF58763D}"/>
              </a:ext>
            </a:extLst>
          </p:cNvPr>
          <p:cNvSpPr txBox="1"/>
          <p:nvPr/>
        </p:nvSpPr>
        <p:spPr>
          <a:xfrm>
            <a:off x="604833" y="1642322"/>
            <a:ext cx="28739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MILD (identify + simple coordinate dilations)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Use for: noticing enlargement vs reduction, applying x</a:t>
            </a:r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kx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, y</a:t>
            </a:r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′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=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ky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with easy k.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Qs: 1–4, 6, 8, 13, 15, 20. 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Inquiry (2):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 How can you tell quickly if k &gt; 1 (enlargement) or 0 &lt; k &lt; 1 (reduction) just by the picture or numbers?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 If a point is at (x, y), what happens to its distance from the origin after a dilation by k? Explain in one sentence.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E43A3-C8F9-1D1E-DBD2-8EA76A2FDEAA}"/>
              </a:ext>
            </a:extLst>
          </p:cNvPr>
          <p:cNvSpPr txBox="1"/>
          <p:nvPr/>
        </p:nvSpPr>
        <p:spPr>
          <a:xfrm>
            <a:off x="3965993" y="1752299"/>
            <a:ext cx="35958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MEDIUM (apply scale + compare measures)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Use for: non-unit fractions/decimals, perimeter/scale links, mapping lines under dilations.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Qs: 5, 7, 9, 14, 16, 24, 25. 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Inquiry (2):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 If lengths scale by k, how do perimeter and area change? Give the rule for each in words and symbols.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A line y = mx + b is dilated about the origin by k. When does its equation stay the same form, and what changes when b </a:t>
            </a:r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≠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0?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A28451-F2AD-D627-91D7-17BE43CAE241}"/>
              </a:ext>
            </a:extLst>
          </p:cNvPr>
          <p:cNvSpPr txBox="1"/>
          <p:nvPr/>
        </p:nvSpPr>
        <p:spPr>
          <a:xfrm>
            <a:off x="7760101" y="1664750"/>
            <a:ext cx="359586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SPICY (reasoning, composition, invariants)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Use for: composing dilations, slopes on segments, properties preserved, always/sometimes/never.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Qs: 22, 23, 26, 27, 28, 30. 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Inquiry (2):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 Two dilations with factors k₁ then k₂ are done about the origin. Explain why the single equivalent transformation is a dilation with k = k₁·k₂. When might the center matter?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•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 Which features are invariant under dilation: angle measure, parallelism, collinearity, midpoint</a:t>
            </a:r>
            <a:r>
              <a:rPr lang="zh-CN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‐</a:t>
            </a:r>
            <a:r>
              <a:rPr lang="en-US" sz="1800" kern="1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ness, slope? Justify briefly for each.</a:t>
            </a:r>
            <a:endParaRPr lang="en-CN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653283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3" y="1200150"/>
            <a:ext cx="10477298" cy="47456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tx1"/>
                </a:solidFill>
              </a:rPr>
              <a:t>Consider the four types of transformations: reflections, translations, rotations, and dilations. </a:t>
            </a:r>
            <a:endParaRPr lang="en-IN" sz="2800" dirty="0">
              <a:solidFill>
                <a:schemeClr val="tx1"/>
              </a:solidFill>
            </a:endParaRP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1.</a:t>
            </a:r>
            <a:r>
              <a:rPr lang="en-IN" sz="2800" b="1" dirty="0"/>
              <a:t> </a:t>
            </a:r>
            <a:r>
              <a:rPr lang="en-IN" sz="2800" dirty="0"/>
              <a:t>How are the transformations alike and different? </a:t>
            </a:r>
          </a:p>
          <a:p>
            <a:pPr marL="441325" indent="-441325"/>
            <a:r>
              <a:rPr lang="en-IN" sz="2800" dirty="0">
                <a:solidFill>
                  <a:srgbClr val="FF0000"/>
                </a:solidFill>
              </a:rPr>
              <a:t>    </a:t>
            </a:r>
          </a:p>
          <a:p>
            <a:pPr marL="441325" indent="-441325"/>
            <a:endParaRPr lang="en-IN" sz="2800" b="1" dirty="0">
              <a:solidFill>
                <a:srgbClr val="FF0000"/>
              </a:solidFill>
            </a:endParaRP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2.</a:t>
            </a:r>
            <a:r>
              <a:rPr lang="en-IN" sz="2800" b="1" dirty="0"/>
              <a:t> </a:t>
            </a:r>
            <a:r>
              <a:rPr lang="en-IN" sz="2800" dirty="0"/>
              <a:t>Which transformations preserve shape and size? </a:t>
            </a:r>
          </a:p>
          <a:p>
            <a:pPr marL="441325" indent="-441325"/>
            <a:endParaRPr lang="en-IN" sz="2800" b="1" dirty="0">
              <a:solidFill>
                <a:schemeClr val="tx1"/>
              </a:solidFill>
            </a:endParaRP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3.</a:t>
            </a:r>
            <a:r>
              <a:rPr lang="en-IN" sz="2800" b="1" dirty="0"/>
              <a:t> </a:t>
            </a:r>
            <a:r>
              <a:rPr lang="en-IN" sz="2800" dirty="0"/>
              <a:t>Which transformations preserve orientation?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8673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Exit Ticket</a:t>
            </a:r>
            <a:endParaRPr lang="en-US" sz="2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78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>
            <a:off x="13164879" y="59117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F3EB91-17DF-D044-83E2-63ED6DCD3089}"/>
              </a:ext>
            </a:extLst>
          </p:cNvPr>
          <p:cNvSpPr txBox="1">
            <a:spLocks/>
          </p:cNvSpPr>
          <p:nvPr/>
        </p:nvSpPr>
        <p:spPr>
          <a:xfrm>
            <a:off x="459873" y="1200150"/>
            <a:ext cx="10477298" cy="47456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30188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60375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55613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0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tx1"/>
                </a:solidFill>
              </a:rPr>
              <a:t>Consider the four types of transformations: reflections, translations, rotations, and dilations. </a:t>
            </a:r>
            <a:endParaRPr lang="en-IN" sz="2800" dirty="0">
              <a:solidFill>
                <a:schemeClr val="tx1"/>
              </a:solidFill>
            </a:endParaRP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1.</a:t>
            </a:r>
            <a:r>
              <a:rPr lang="en-IN" sz="2800" b="1" dirty="0"/>
              <a:t> </a:t>
            </a:r>
            <a:r>
              <a:rPr lang="en-IN" sz="2800" dirty="0"/>
              <a:t>How are the transformations alike and different? </a:t>
            </a:r>
          </a:p>
          <a:p>
            <a:pPr marL="441325" indent="-441325"/>
            <a:r>
              <a:rPr lang="en-IN" sz="2800" dirty="0">
                <a:solidFill>
                  <a:srgbClr val="FF0000"/>
                </a:solidFill>
              </a:rPr>
              <a:t>    All of the transformations represent a mapping of a preimage to an image. Three of the four transformations are isometries.</a:t>
            </a: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2.</a:t>
            </a:r>
            <a:r>
              <a:rPr lang="en-IN" sz="2800" b="1" dirty="0"/>
              <a:t> </a:t>
            </a:r>
            <a:r>
              <a:rPr lang="en-IN" sz="2800" dirty="0"/>
              <a:t>Which transformations preserve shape and size? </a:t>
            </a:r>
            <a:r>
              <a:rPr lang="en-IN" sz="2800" dirty="0">
                <a:solidFill>
                  <a:srgbClr val="FF0000"/>
                </a:solidFill>
              </a:rPr>
              <a:t>reflections, translations, and rotations </a:t>
            </a:r>
          </a:p>
          <a:p>
            <a:pPr marL="441325" indent="-441325"/>
            <a:r>
              <a:rPr lang="en-IN" sz="2800" b="1" dirty="0">
                <a:solidFill>
                  <a:schemeClr val="tx1"/>
                </a:solidFill>
              </a:rPr>
              <a:t>3.</a:t>
            </a:r>
            <a:r>
              <a:rPr lang="en-IN" sz="2800" b="1" dirty="0"/>
              <a:t> </a:t>
            </a:r>
            <a:r>
              <a:rPr lang="en-IN" sz="2800" dirty="0"/>
              <a:t>Which transformations preserve orientation? </a:t>
            </a:r>
            <a:r>
              <a:rPr lang="en-IN" sz="2800" dirty="0">
                <a:solidFill>
                  <a:srgbClr val="FF0000"/>
                </a:solidFill>
              </a:rPr>
              <a:t>translations, rotations, and dilations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9FEBC70-14DF-1346-9D20-FCA256EAA232}"/>
              </a:ext>
            </a:extLst>
          </p:cNvPr>
          <p:cNvSpPr txBox="1">
            <a:spLocks/>
          </p:cNvSpPr>
          <p:nvPr/>
        </p:nvSpPr>
        <p:spPr>
          <a:xfrm>
            <a:off x="459873" y="332811"/>
            <a:ext cx="6947606" cy="8673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070C0"/>
                </a:solidFill>
              </a:rPr>
              <a:t>Exit Ticket</a:t>
            </a:r>
            <a:endParaRPr lang="en-US" sz="2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820598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 Slid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PT Template 16x9 2020 update" id="{5E47A058-0525-4FF8-ABFF-DAB3961E1CA4}" vid="{3779B88A-58AE-471A-9261-01943B1F04F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7709CCA798B64D87AE3112DFBB365E" ma:contentTypeVersion="15" ma:contentTypeDescription="Create a new document." ma:contentTypeScope="" ma:versionID="7f60a4d8ae5ac8c858950d08ae9dc57e">
  <xsd:schema xmlns:xsd="http://www.w3.org/2001/XMLSchema" xmlns:xs="http://www.w3.org/2001/XMLSchema" xmlns:p="http://schemas.microsoft.com/office/2006/metadata/properties" xmlns:ns2="fcd95355-ee9e-4cb0-9008-5fef111e7f7d" xmlns:ns3="61e7b1a3-8b1e-4ec5-a141-6d875ba9ba44" targetNamespace="http://schemas.microsoft.com/office/2006/metadata/properties" ma:root="true" ma:fieldsID="3f46e49a425c68d4e2eff7d20a257a5c" ns2:_="" ns3:_="">
    <xsd:import namespace="fcd95355-ee9e-4cb0-9008-5fef111e7f7d"/>
    <xsd:import namespace="61e7b1a3-8b1e-4ec5-a141-6d875ba9ba4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d95355-ee9e-4cb0-9008-5fef111e7f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c441b4c-2c8e-4f1f-b95f-72a24872759e}" ma:internalName="TaxCatchAll" ma:showField="CatchAllData" ma:web="fcd95355-ee9e-4cb0-9008-5fef111e7f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e7b1a3-8b1e-4ec5-a141-6d875ba9ba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e578da5-65b5-45f2-a6dc-1c168aa446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e7b1a3-8b1e-4ec5-a141-6d875ba9ba44">
      <Terms xmlns="http://schemas.microsoft.com/office/infopath/2007/PartnerControls"/>
    </lcf76f155ced4ddcb4097134ff3c332f>
    <TaxCatchAll xmlns="fcd95355-ee9e-4cb0-9008-5fef111e7f7d" xsi:nil="true"/>
  </documentManagement>
</p:properties>
</file>

<file path=customXml/itemProps1.xml><?xml version="1.0" encoding="utf-8"?>
<ds:datastoreItem xmlns:ds="http://schemas.openxmlformats.org/officeDocument/2006/customXml" ds:itemID="{4028563D-DA91-4139-9895-903BD77BEF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d95355-ee9e-4cb0-9008-5fef111e7f7d"/>
    <ds:schemaRef ds:uri="61e7b1a3-8b1e-4ec5-a141-6d875ba9ba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2E7C71-38C8-4AE5-BA32-A0BF338EEF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0EC8B5-3819-4979-9120-C477F29E8895}">
  <ds:schemaRefs>
    <ds:schemaRef ds:uri="9450ef5d-1a70-432a-a187-b784c13ee2c7"/>
    <ds:schemaRef ds:uri="eebb11a2-b469-44b8-8bf8-081d58bb64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ea4a9e5c-3d35-4957-9f75-be99225b1345"/>
    <ds:schemaRef ds:uri="4d542492-1411-461f-a54d-7ce3bfc1bb2b"/>
    <ds:schemaRef ds:uri="61e7b1a3-8b1e-4ec5-a141-6d875ba9ba44"/>
    <ds:schemaRef ds:uri="fcd95355-ee9e-4cb0-9008-5fef111e7f7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1390</TotalTime>
  <Words>1879</Words>
  <Application>Microsoft Macintosh PowerPoint</Application>
  <PresentationFormat>Widescreen</PresentationFormat>
  <Paragraphs>183</Paragraphs>
  <Slides>28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Proxima Nova</vt:lpstr>
      <vt:lpstr>ProximaNova</vt:lpstr>
      <vt:lpstr>Arial</vt:lpstr>
      <vt:lpstr>Calibri</vt:lpstr>
      <vt:lpstr>Cambria Math</vt:lpstr>
      <vt:lpstr>Title Slide</vt:lpstr>
      <vt:lpstr>Content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16:9 PPT Template: User Notes Delete this slide from final presentation.</dc:title>
  <dc:creator>Grubelich, Rocio</dc:creator>
  <cp:lastModifiedBy>Cliff Packman</cp:lastModifiedBy>
  <cp:revision>39</cp:revision>
  <cp:lastPrinted>2018-08-01T21:17:27Z</cp:lastPrinted>
  <dcterms:created xsi:type="dcterms:W3CDTF">2020-09-17T18:06:02Z</dcterms:created>
  <dcterms:modified xsi:type="dcterms:W3CDTF">2026-05-03T04:10:49Z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0x0101001B7709CCA798B64D87AE3112DFBB365E</vt:lpwstr>
  </property>
</Properties>
</file>